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lsx" ContentType="application/vnd.openxmlformats-officedocument.spreadsheetml.sheet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charts/chart1.xml" ContentType="application/vnd.openxmlformats-officedocument.drawingml.chart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1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4" r:id="rId19"/>
    <p:sldId id="275" r:id="rId20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987" autoAdjust="0"/>
    <p:restoredTop sz="94610"/>
  </p:normalViewPr>
  <p:slideViewPr>
    <p:cSldViewPr snapToGrid="0" snapToObjects="1">
      <p:cViewPr>
        <p:scale>
          <a:sx n="100" d="100"/>
          <a:sy n="100" d="100"/>
        </p:scale>
        <p:origin x="284" y="16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6/11/relationships/changesInfo" Target="changesInfos/changesInfo1.xml"/><Relationship Id="rId3" Type="http://schemas.openxmlformats.org/officeDocument/2006/relationships/slide" Target="slides/slide2.xml"/><Relationship Id="rId21" Type="http://schemas.openxmlformats.org/officeDocument/2006/relationships/notesMaster" Target="notesMasters/notesMaster1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ableStyles" Target="tableStyles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heme" Target="theme/theme1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viewProps" Target="view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presProps" Target="pres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seif ahmed" userId="97af24f1cd4e9092" providerId="LiveId" clId="{FA2763E1-4C64-44D3-9CED-01F1EFD1E4FE}"/>
    <pc:docChg chg="undo redo custSel modSld sldOrd">
      <pc:chgData name="seif ahmed" userId="97af24f1cd4e9092" providerId="LiveId" clId="{FA2763E1-4C64-44D3-9CED-01F1EFD1E4FE}" dt="2026-05-21T08:07:37.344" v="355" actId="20577"/>
      <pc:docMkLst>
        <pc:docMk/>
      </pc:docMkLst>
      <pc:sldChg chg="addSp delSp modSp mod ord">
        <pc:chgData name="seif ahmed" userId="97af24f1cd4e9092" providerId="LiveId" clId="{FA2763E1-4C64-44D3-9CED-01F1EFD1E4FE}" dt="2026-05-21T07:52:27.969" v="208" actId="478"/>
        <pc:sldMkLst>
          <pc:docMk/>
          <pc:sldMk cId="0" sldId="263"/>
        </pc:sldMkLst>
        <pc:graphicFrameChg chg="add del modGraphic">
          <ac:chgData name="seif ahmed" userId="97af24f1cd4e9092" providerId="LiveId" clId="{FA2763E1-4C64-44D3-9CED-01F1EFD1E4FE}" dt="2026-05-21T07:52:27.969" v="208" actId="478"/>
          <ac:graphicFrameMkLst>
            <pc:docMk/>
            <pc:sldMk cId="0" sldId="263"/>
            <ac:graphicFrameMk id="41" creationId="{E88226EE-CD77-3331-F0FF-8F6E6AD360F1}"/>
          </ac:graphicFrameMkLst>
        </pc:graphicFrameChg>
      </pc:sldChg>
      <pc:sldChg chg="modSp mod">
        <pc:chgData name="seif ahmed" userId="97af24f1cd4e9092" providerId="LiveId" clId="{FA2763E1-4C64-44D3-9CED-01F1EFD1E4FE}" dt="2026-05-21T07:51:30.756" v="207" actId="20577"/>
        <pc:sldMkLst>
          <pc:docMk/>
          <pc:sldMk cId="0" sldId="266"/>
        </pc:sldMkLst>
        <pc:spChg chg="mod">
          <ac:chgData name="seif ahmed" userId="97af24f1cd4e9092" providerId="LiveId" clId="{FA2763E1-4C64-44D3-9CED-01F1EFD1E4FE}" dt="2026-05-21T07:51:30.756" v="207" actId="20577"/>
          <ac:spMkLst>
            <pc:docMk/>
            <pc:sldMk cId="0" sldId="266"/>
            <ac:spMk id="4" creationId="{00000000-0000-0000-0000-000000000000}"/>
          </ac:spMkLst>
        </pc:spChg>
        <pc:spChg chg="mod">
          <ac:chgData name="seif ahmed" userId="97af24f1cd4e9092" providerId="LiveId" clId="{FA2763E1-4C64-44D3-9CED-01F1EFD1E4FE}" dt="2026-05-21T07:51:10.025" v="205" actId="14100"/>
          <ac:spMkLst>
            <pc:docMk/>
            <pc:sldMk cId="0" sldId="266"/>
            <ac:spMk id="12" creationId="{00000000-0000-0000-0000-000000000000}"/>
          </ac:spMkLst>
        </pc:spChg>
        <pc:spChg chg="mod">
          <ac:chgData name="seif ahmed" userId="97af24f1cd4e9092" providerId="LiveId" clId="{FA2763E1-4C64-44D3-9CED-01F1EFD1E4FE}" dt="2026-05-20T23:29:27.381" v="71" actId="20577"/>
          <ac:spMkLst>
            <pc:docMk/>
            <pc:sldMk cId="0" sldId="266"/>
            <ac:spMk id="21" creationId="{00000000-0000-0000-0000-000000000000}"/>
          </ac:spMkLst>
        </pc:spChg>
        <pc:spChg chg="mod">
          <ac:chgData name="seif ahmed" userId="97af24f1cd4e9092" providerId="LiveId" clId="{FA2763E1-4C64-44D3-9CED-01F1EFD1E4FE}" dt="2026-05-20T23:29:32.942" v="72" actId="313"/>
          <ac:spMkLst>
            <pc:docMk/>
            <pc:sldMk cId="0" sldId="266"/>
            <ac:spMk id="30" creationId="{00000000-0000-0000-0000-000000000000}"/>
          </ac:spMkLst>
        </pc:spChg>
        <pc:spChg chg="mod">
          <ac:chgData name="seif ahmed" userId="97af24f1cd4e9092" providerId="LiveId" clId="{FA2763E1-4C64-44D3-9CED-01F1EFD1E4FE}" dt="2026-05-20T23:28:28.696" v="36" actId="20577"/>
          <ac:spMkLst>
            <pc:docMk/>
            <pc:sldMk cId="0" sldId="266"/>
            <ac:spMk id="63" creationId="{00000000-0000-0000-0000-000000000000}"/>
          </ac:spMkLst>
        </pc:spChg>
        <pc:spChg chg="mod">
          <ac:chgData name="seif ahmed" userId="97af24f1cd4e9092" providerId="LiveId" clId="{FA2763E1-4C64-44D3-9CED-01F1EFD1E4FE}" dt="2026-05-20T23:28:52.793" v="45" actId="20577"/>
          <ac:spMkLst>
            <pc:docMk/>
            <pc:sldMk cId="0" sldId="266"/>
            <ac:spMk id="75" creationId="{00000000-0000-0000-0000-000000000000}"/>
          </ac:spMkLst>
        </pc:spChg>
        <pc:spChg chg="mod">
          <ac:chgData name="seif ahmed" userId="97af24f1cd4e9092" providerId="LiveId" clId="{FA2763E1-4C64-44D3-9CED-01F1EFD1E4FE}" dt="2026-05-20T23:29:07.194" v="52" actId="20577"/>
          <ac:spMkLst>
            <pc:docMk/>
            <pc:sldMk cId="0" sldId="266"/>
            <ac:spMk id="78" creationId="{00000000-0000-0000-0000-000000000000}"/>
          </ac:spMkLst>
        </pc:spChg>
        <pc:spChg chg="mod">
          <ac:chgData name="seif ahmed" userId="97af24f1cd4e9092" providerId="LiveId" clId="{FA2763E1-4C64-44D3-9CED-01F1EFD1E4FE}" dt="2026-05-20T23:30:06.210" v="97" actId="20577"/>
          <ac:spMkLst>
            <pc:docMk/>
            <pc:sldMk cId="0" sldId="266"/>
            <ac:spMk id="87" creationId="{00000000-0000-0000-0000-000000000000}"/>
          </ac:spMkLst>
        </pc:spChg>
        <pc:spChg chg="mod">
          <ac:chgData name="seif ahmed" userId="97af24f1cd4e9092" providerId="LiveId" clId="{FA2763E1-4C64-44D3-9CED-01F1EFD1E4FE}" dt="2026-05-20T23:30:25.282" v="113" actId="20577"/>
          <ac:spMkLst>
            <pc:docMk/>
            <pc:sldMk cId="0" sldId="266"/>
            <ac:spMk id="90" creationId="{00000000-0000-0000-0000-000000000000}"/>
          </ac:spMkLst>
        </pc:spChg>
        <pc:spChg chg="mod">
          <ac:chgData name="seif ahmed" userId="97af24f1cd4e9092" providerId="LiveId" clId="{FA2763E1-4C64-44D3-9CED-01F1EFD1E4FE}" dt="2026-05-20T23:30:52.263" v="152" actId="20577"/>
          <ac:spMkLst>
            <pc:docMk/>
            <pc:sldMk cId="0" sldId="266"/>
            <ac:spMk id="93" creationId="{00000000-0000-0000-0000-000000000000}"/>
          </ac:spMkLst>
        </pc:spChg>
      </pc:sldChg>
      <pc:sldChg chg="addSp delSp modSp mod">
        <pc:chgData name="seif ahmed" userId="97af24f1cd4e9092" providerId="LiveId" clId="{FA2763E1-4C64-44D3-9CED-01F1EFD1E4FE}" dt="2026-05-20T23:44:53.729" v="197" actId="1076"/>
        <pc:sldMkLst>
          <pc:docMk/>
          <pc:sldMk cId="0" sldId="267"/>
        </pc:sldMkLst>
        <pc:picChg chg="add del mod modCrop">
          <ac:chgData name="seif ahmed" userId="97af24f1cd4e9092" providerId="LiveId" clId="{FA2763E1-4C64-44D3-9CED-01F1EFD1E4FE}" dt="2026-05-20T23:38:44.763" v="184" actId="22"/>
          <ac:picMkLst>
            <pc:docMk/>
            <pc:sldMk cId="0" sldId="267"/>
            <ac:picMk id="9" creationId="{07571F75-B112-A945-A5E7-57D0E34F46E1}"/>
          </ac:picMkLst>
        </pc:picChg>
        <pc:picChg chg="add del mod">
          <ac:chgData name="seif ahmed" userId="97af24f1cd4e9092" providerId="LiveId" clId="{FA2763E1-4C64-44D3-9CED-01F1EFD1E4FE}" dt="2026-05-20T23:43:37.036" v="186" actId="478"/>
          <ac:picMkLst>
            <pc:docMk/>
            <pc:sldMk cId="0" sldId="267"/>
            <ac:picMk id="12" creationId="{B442D56D-C919-D45C-6F81-5E4510329B5C}"/>
          </ac:picMkLst>
        </pc:picChg>
        <pc:picChg chg="add mod modCrop">
          <ac:chgData name="seif ahmed" userId="97af24f1cd4e9092" providerId="LiveId" clId="{FA2763E1-4C64-44D3-9CED-01F1EFD1E4FE}" dt="2026-05-20T23:44:53.729" v="197" actId="1076"/>
          <ac:picMkLst>
            <pc:docMk/>
            <pc:sldMk cId="0" sldId="267"/>
            <ac:picMk id="13" creationId="{96A0D36A-088A-72C8-8FC2-4ED2690A1965}"/>
          </ac:picMkLst>
        </pc:picChg>
      </pc:sldChg>
      <pc:sldChg chg="modSp mod">
        <pc:chgData name="seif ahmed" userId="97af24f1cd4e9092" providerId="LiveId" clId="{FA2763E1-4C64-44D3-9CED-01F1EFD1E4FE}" dt="2026-05-20T23:50:46.315" v="199" actId="14100"/>
        <pc:sldMkLst>
          <pc:docMk/>
          <pc:sldMk cId="0" sldId="270"/>
        </pc:sldMkLst>
        <pc:spChg chg="mod">
          <ac:chgData name="seif ahmed" userId="97af24f1cd4e9092" providerId="LiveId" clId="{FA2763E1-4C64-44D3-9CED-01F1EFD1E4FE}" dt="2026-05-20T23:50:46.315" v="199" actId="14100"/>
          <ac:spMkLst>
            <pc:docMk/>
            <pc:sldMk cId="0" sldId="270"/>
            <ac:spMk id="42" creationId="{00000000-0000-0000-0000-000000000000}"/>
          </ac:spMkLst>
        </pc:spChg>
      </pc:sldChg>
      <pc:sldChg chg="modSp mod">
        <pc:chgData name="seif ahmed" userId="97af24f1cd4e9092" providerId="LiveId" clId="{FA2763E1-4C64-44D3-9CED-01F1EFD1E4FE}" dt="2026-05-21T08:06:08.701" v="313" actId="20577"/>
        <pc:sldMkLst>
          <pc:docMk/>
          <pc:sldMk cId="0" sldId="271"/>
        </pc:sldMkLst>
        <pc:spChg chg="mod">
          <ac:chgData name="seif ahmed" userId="97af24f1cd4e9092" providerId="LiveId" clId="{FA2763E1-4C64-44D3-9CED-01F1EFD1E4FE}" dt="2026-05-21T08:06:08.701" v="313" actId="20577"/>
          <ac:spMkLst>
            <pc:docMk/>
            <pc:sldMk cId="0" sldId="271"/>
            <ac:spMk id="4" creationId="{00000000-0000-0000-0000-000000000000}"/>
          </ac:spMkLst>
        </pc:spChg>
        <pc:spChg chg="mod">
          <ac:chgData name="seif ahmed" userId="97af24f1cd4e9092" providerId="LiveId" clId="{FA2763E1-4C64-44D3-9CED-01F1EFD1E4FE}" dt="2026-05-21T08:05:32.624" v="276" actId="20577"/>
          <ac:spMkLst>
            <pc:docMk/>
            <pc:sldMk cId="0" sldId="271"/>
            <ac:spMk id="11" creationId="{00000000-0000-0000-0000-000000000000}"/>
          </ac:spMkLst>
        </pc:spChg>
      </pc:sldChg>
      <pc:sldChg chg="modSp mod">
        <pc:chgData name="seif ahmed" userId="97af24f1cd4e9092" providerId="LiveId" clId="{FA2763E1-4C64-44D3-9CED-01F1EFD1E4FE}" dt="2026-05-21T08:07:37.344" v="355" actId="20577"/>
        <pc:sldMkLst>
          <pc:docMk/>
          <pc:sldMk cId="0" sldId="272"/>
        </pc:sldMkLst>
        <pc:spChg chg="mod">
          <ac:chgData name="seif ahmed" userId="97af24f1cd4e9092" providerId="LiveId" clId="{FA2763E1-4C64-44D3-9CED-01F1EFD1E4FE}" dt="2026-05-21T08:07:37.344" v="355" actId="20577"/>
          <ac:spMkLst>
            <pc:docMk/>
            <pc:sldMk cId="0" sldId="272"/>
            <ac:spMk id="4" creationId="{00000000-0000-0000-0000-000000000000}"/>
          </ac:spMkLst>
        </pc:spChg>
      </pc:sldChg>
    </pc:docChg>
  </pc:docChgLst>
</pc:chgInfo>
</file>

<file path=ppt/charts/_rels/chart1.xml.rels><?xml version="1.0" encoding="UTF-8" standalone="yes"?>
<Relationships xmlns="http://schemas.openxmlformats.org/package/2006/relationships"><Relationship Id="rId1" Type="http://schemas.openxmlformats.org/officeDocument/2006/relationships/package" Target="../embeddings/Microsoft_Excel_Worksheet.xlsx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1"/>
  <c:style val="2"/>
  <c:chart>
    <c:title>
      <c:tx>
        <c:rich>
          <a:bodyPr/>
          <a:lstStyle/>
          <a:p>
            <a:pPr>
              <a:defRPr sz="1800" b="0" i="0" u="none" strike="noStrike">
                <a:solidFill>
                  <a:srgbClr val="014F59"/>
                </a:solidFill>
                <a:latin typeface="Arial"/>
              </a:defRPr>
            </a:pPr>
            <a:r>
              <a:rPr lang="en-US" sz="1800" b="0" i="0" u="none" strike="noStrike">
                <a:solidFill>
                  <a:srgbClr val="014F59"/>
                </a:solidFill>
                <a:latin typeface="Arial"/>
              </a:rPr>
              <a:t>Cost by WBS Phase (USD)</a:t>
            </a:r>
          </a:p>
        </c:rich>
      </c:tx>
      <c:overlay val="0"/>
    </c:title>
    <c:autoTitleDeleted val="0"/>
    <c:plotArea>
      <c:layout/>
      <c:barChart>
        <c:barDir val="col"/>
        <c:grouping val="clustered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Cost ($)</c:v>
                </c:pt>
              </c:strCache>
            </c:strRef>
          </c:tx>
          <c:spPr>
            <a:solidFill>
              <a:srgbClr val="028090"/>
            </a:solidFill>
            <a:effectLst/>
          </c:spPr>
          <c:invertIfNegative val="0"/>
          <c:dPt>
            <c:idx val="0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1-3797-481E-A18A-66A416660FD3}"/>
              </c:ext>
            </c:extLst>
          </c:dPt>
          <c:dPt>
            <c:idx val="1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3-3797-481E-A18A-66A416660FD3}"/>
              </c:ext>
            </c:extLst>
          </c:dPt>
          <c:dPt>
            <c:idx val="2"/>
            <c:invertIfNegative val="0"/>
            <c:bubble3D val="0"/>
            <c:spPr>
              <a:solidFill>
                <a:srgbClr val="014F59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5-3797-481E-A18A-66A416660FD3}"/>
              </c:ext>
            </c:extLst>
          </c:dPt>
          <c:dPt>
            <c:idx val="3"/>
            <c:invertIfNegative val="0"/>
            <c:bubble3D val="0"/>
            <c:spPr>
              <a:solidFill>
                <a:srgbClr val="02C39A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7-3797-481E-A18A-66A416660FD3}"/>
              </c:ext>
            </c:extLst>
          </c:dPt>
          <c:dPt>
            <c:idx val="4"/>
            <c:invertIfNegative val="0"/>
            <c:bubble3D val="0"/>
            <c:extLst>
              <c:ext xmlns:c16="http://schemas.microsoft.com/office/drawing/2014/chart" uri="{C3380CC4-5D6E-409C-BE32-E72D297353CC}">
                <c16:uniqueId val="{00000009-3797-481E-A18A-66A416660FD3}"/>
              </c:ext>
            </c:extLst>
          </c:dPt>
          <c:dPt>
            <c:idx val="5"/>
            <c:invertIfNegative val="0"/>
            <c:bubble3D val="0"/>
            <c:spPr>
              <a:solidFill>
                <a:srgbClr val="00A896"/>
              </a:solidFill>
              <a:effectLst/>
            </c:spPr>
            <c:extLst>
              <c:ext xmlns:c16="http://schemas.microsoft.com/office/drawing/2014/chart" uri="{C3380CC4-5D6E-409C-BE32-E72D297353CC}">
                <c16:uniqueId val="{0000000B-3797-481E-A18A-66A416660FD3}"/>
              </c:ext>
            </c:extLst>
          </c:dPt>
          <c:dLbls>
            <c:numFmt formatCode="#,##0" sourceLinked="0"/>
            <c:spPr>
              <a:noFill/>
              <a:ln>
                <a:noFill/>
              </a:ln>
              <a:effectLst/>
            </c:spPr>
            <c:txPr>
              <a:bodyPr/>
              <a:lstStyle/>
              <a:p>
                <a:pPr>
                  <a:defRPr sz="1200" b="0" i="0" u="none" strike="noStrike">
                    <a:solidFill>
                      <a:srgbClr val="1A2E30"/>
                    </a:solidFill>
                    <a:latin typeface="Arial"/>
                  </a:defRPr>
                </a:pPr>
                <a:endParaRPr lang="en-US"/>
              </a:p>
            </c:txPr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0"/>
              </c:ext>
            </c:extLst>
          </c:dLbls>
          <c:cat>
            <c:strRef>
              <c:f>Sheet1!$A$2:$A$7</c:f>
              <c:strCache>
                <c:ptCount val="6"/>
                <c:pt idx="0">
                  <c:v>Proj Mgmt</c:v>
                </c:pt>
                <c:pt idx="1">
                  <c:v>Req &amp; Design</c:v>
                </c:pt>
                <c:pt idx="2">
                  <c:v>Platform Dev</c:v>
                </c:pt>
                <c:pt idx="3">
                  <c:v>Feature Integ.</c:v>
                </c:pt>
                <c:pt idx="4">
                  <c:v>Testing &amp; QA</c:v>
                </c:pt>
                <c:pt idx="5">
                  <c:v>Deployment</c:v>
                </c:pt>
              </c:strCache>
            </c:strRef>
          </c:cat>
          <c:val>
            <c:numRef>
              <c:f>Sheet1!$B$2:$B$7</c:f>
              <c:numCache>
                <c:formatCode>General</c:formatCode>
                <c:ptCount val="6"/>
                <c:pt idx="0">
                  <c:v>516</c:v>
                </c:pt>
                <c:pt idx="1">
                  <c:v>581</c:v>
                </c:pt>
                <c:pt idx="2">
                  <c:v>1290</c:v>
                </c:pt>
                <c:pt idx="3">
                  <c:v>710</c:v>
                </c:pt>
                <c:pt idx="4">
                  <c:v>516</c:v>
                </c:pt>
                <c:pt idx="5">
                  <c:v>387</c:v>
                </c:pt>
              </c:numCache>
            </c:numRef>
          </c:val>
          <c:extLst>
            <c:ext xmlns:c16="http://schemas.microsoft.com/office/drawing/2014/chart" uri="{C3380CC4-5D6E-409C-BE32-E72D297353CC}">
              <c16:uniqueId val="{0000000C-3797-481E-A18A-66A416660FD3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gapWidth val="150"/>
        <c:axId val="2094734554"/>
        <c:axId val="2094734552"/>
      </c:barChart>
      <c:catAx>
        <c:axId val="2094734554"/>
        <c:scaling>
          <c:orientation val="minMax"/>
        </c:scaling>
        <c:delete val="0"/>
        <c:axPos val="b"/>
        <c:numFmt formatCode="General" sourceLinked="1"/>
        <c:majorTickMark val="out"/>
        <c:minorTickMark val="none"/>
        <c:tickLblPos val="low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2"/>
        <c:crosses val="autoZero"/>
        <c:auto val="1"/>
        <c:lblAlgn val="ctr"/>
        <c:lblOffset val="100"/>
        <c:noMultiLvlLbl val="1"/>
      </c:catAx>
      <c:valAx>
        <c:axId val="2094734552"/>
        <c:scaling>
          <c:orientation val="minMax"/>
        </c:scaling>
        <c:delete val="0"/>
        <c:axPos val="l"/>
        <c:majorGridlines>
          <c:spPr>
            <a:ln w="6350" cap="flat">
              <a:solidFill>
                <a:srgbClr val="E2E8F0"/>
              </a:solidFill>
              <a:prstDash val="solid"/>
              <a:round/>
            </a:ln>
          </c:spPr>
        </c:majorGridlines>
        <c:numFmt formatCode="General" sourceLinked="0"/>
        <c:majorTickMark val="out"/>
        <c:minorTickMark val="none"/>
        <c:tickLblPos val="nextTo"/>
        <c:spPr>
          <a:ln w="12700" cap="flat">
            <a:solidFill>
              <a:srgbClr val="888888"/>
            </a:solidFill>
            <a:prstDash val="solid"/>
            <a:round/>
          </a:ln>
        </c:spPr>
        <c:txPr>
          <a:bodyPr/>
          <a:lstStyle/>
          <a:p>
            <a:pPr>
              <a:defRPr sz="1200" b="0" i="0" u="none" strike="noStrike">
                <a:solidFill>
                  <a:srgbClr val="64748B"/>
                </a:solidFill>
                <a:latin typeface="Arial"/>
              </a:defRPr>
            </a:pPr>
            <a:endParaRPr lang="en-US"/>
          </a:p>
        </c:txPr>
        <c:crossAx val="2094734554"/>
        <c:crosses val="autoZero"/>
        <c:crossBetween val="between"/>
      </c:valAx>
      <c:spPr>
        <a:noFill/>
        <a:ln>
          <a:noFill/>
        </a:ln>
        <a:effectLst/>
      </c:spPr>
    </c:plotArea>
    <c:plotVisOnly val="1"/>
    <c:dispBlanksAs val="span"/>
    <c:showDLblsOverMax val="1"/>
  </c:chart>
  <c:spPr>
    <a:solidFill>
      <a:srgbClr val="FFFFFF"/>
    </a:solidFill>
    <a:ln>
      <a:noFill/>
    </a:ln>
    <a:effectLst/>
  </c:spPr>
  <c:externalData r:id="rId1">
    <c:autoUpdate val="0"/>
  </c:externalData>
</c:chartSpace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93810525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s://fruit-drink-09701047.figma.site/" TargetMode="External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2.png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4.png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8.xml"/><Relationship Id="rId1" Type="http://schemas.openxmlformats.org/officeDocument/2006/relationships/slideLayout" Target="../slideLayouts/slideLayout1.xml"/></Relationships>
</file>

<file path=ppt/slides/_rels/slide1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9.xml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012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028090">
              <a:alpha val="25000"/>
            </a:srgbClr>
          </a:solidFill>
          <a:ln w="12700">
            <a:solidFill>
              <a:srgbClr val="028090">
                <a:alpha val="25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097280" y="2560320"/>
            <a:ext cx="3657600" cy="3657600"/>
          </a:xfrm>
          <a:prstGeom prst="ellipse">
            <a:avLst/>
          </a:prstGeom>
          <a:solidFill>
            <a:srgbClr val="00A896">
              <a:alpha val="18000"/>
            </a:srgbClr>
          </a:solidFill>
          <a:ln w="12700">
            <a:solidFill>
              <a:srgbClr val="00A896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" name="Shape 2"/>
          <p:cNvSpPr/>
          <p:nvPr/>
        </p:nvSpPr>
        <p:spPr>
          <a:xfrm>
            <a:off x="548640" y="457200"/>
            <a:ext cx="1645920" cy="3474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" name="Text 3"/>
          <p:cNvSpPr/>
          <p:nvPr/>
        </p:nvSpPr>
        <p:spPr>
          <a:xfrm>
            <a:off x="548640" y="457200"/>
            <a:ext cx="164592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01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UNICEF SPONSORED</a:t>
            </a:r>
            <a:endParaRPr lang="en-US" sz="850" dirty="0"/>
          </a:p>
        </p:txBody>
      </p:sp>
      <p:sp>
        <p:nvSpPr>
          <p:cNvPr id="6" name="Text 4"/>
          <p:cNvSpPr/>
          <p:nvPr/>
        </p:nvSpPr>
        <p:spPr>
          <a:xfrm>
            <a:off x="548640" y="960120"/>
            <a:ext cx="7772400" cy="68580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4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Charity Organization</a:t>
            </a:r>
            <a:endParaRPr lang="en-US" sz="4600" dirty="0"/>
          </a:p>
        </p:txBody>
      </p:sp>
      <p:sp>
        <p:nvSpPr>
          <p:cNvPr id="7" name="Text 5"/>
          <p:cNvSpPr/>
          <p:nvPr/>
        </p:nvSpPr>
        <p:spPr>
          <a:xfrm>
            <a:off x="548640" y="1600200"/>
            <a:ext cx="77724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38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Website Project</a:t>
            </a:r>
            <a:endParaRPr lang="en-US" sz="3800" dirty="0"/>
          </a:p>
        </p:txBody>
      </p:sp>
      <p:sp>
        <p:nvSpPr>
          <p:cNvPr id="8" name="Shape 6"/>
          <p:cNvSpPr/>
          <p:nvPr/>
        </p:nvSpPr>
        <p:spPr>
          <a:xfrm>
            <a:off x="548640" y="2304288"/>
            <a:ext cx="3474720" cy="0"/>
          </a:xfrm>
          <a:prstGeom prst="line">
            <a:avLst/>
          </a:prstGeom>
          <a:noFill/>
          <a:ln w="1905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" name="Text 7"/>
          <p:cNvSpPr/>
          <p:nvPr/>
        </p:nvSpPr>
        <p:spPr>
          <a:xfrm>
            <a:off x="548640" y="2423160"/>
            <a:ext cx="7772400" cy="32004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400" dirty="0">
                <a:solidFill>
                  <a:srgbClr val="7F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 Final Document</a:t>
            </a:r>
            <a:endParaRPr lang="en-US" sz="1400" dirty="0"/>
          </a:p>
        </p:txBody>
      </p:sp>
      <p:sp>
        <p:nvSpPr>
          <p:cNvPr id="22" name="Text 20"/>
          <p:cNvSpPr/>
          <p:nvPr/>
        </p:nvSpPr>
        <p:spPr>
          <a:xfrm>
            <a:off x="548640" y="4206240"/>
            <a:ext cx="777240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000" i="1" dirty="0">
                <a:solidFill>
                  <a:srgbClr val="7F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Jana Hassan &amp; Seif Ahmed  —  15 March 2026</a:t>
            </a:r>
            <a:endParaRPr lang="en-US" sz="1000" dirty="0"/>
          </a:p>
        </p:txBody>
      </p:sp>
      <p:sp>
        <p:nvSpPr>
          <p:cNvPr id="23" name="TextBox 22">
            <a:extLst>
              <a:ext uri="{FF2B5EF4-FFF2-40B4-BE49-F238E27FC236}">
                <a16:creationId xmlns:a16="http://schemas.microsoft.com/office/drawing/2014/main" id="{FC0890EF-5CE2-2B99-B95E-0899C39E86B3}"/>
              </a:ext>
            </a:extLst>
          </p:cNvPr>
          <p:cNvSpPr txBox="1"/>
          <p:nvPr/>
        </p:nvSpPr>
        <p:spPr>
          <a:xfrm>
            <a:off x="548640" y="2812781"/>
            <a:ext cx="415036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1400" b="1" dirty="0">
                <a:solidFill>
                  <a:schemeClr val="bg1"/>
                </a:solidFill>
              </a:rPr>
              <a:t>Website link: </a:t>
            </a:r>
            <a:r>
              <a:rPr lang="en-US" sz="1400" b="1" dirty="0">
                <a:solidFill>
                  <a:schemeClr val="bg1"/>
                </a:solidFill>
                <a:hlinkClick r:id="rId3">
                  <a:extLst>
                    <a:ext uri="{A12FA001-AC4F-418D-AE19-62706E023703}">
                      <ahyp:hlinkClr xmlns:ahyp="http://schemas.microsoft.com/office/drawing/2018/hyperlinkcolor" val="tx"/>
                    </a:ext>
                  </a:extLst>
                </a:hlinkClick>
              </a:rPr>
              <a:t>https://fruit-drink 09701047.figma.site/</a:t>
            </a:r>
            <a:endParaRPr lang="en-US" sz="1400" dirty="0">
              <a:solidFill>
                <a:schemeClr val="bg1"/>
              </a:solidFill>
            </a:endParaRP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14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Overview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need, objectives &amp; expected impact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0"/>
          </a:xfrm>
          <a:prstGeom prst="line">
            <a:avLst/>
          </a:prstGeom>
          <a:noFill/>
          <a:ln w="19050">
            <a:solidFill>
              <a:srgbClr val="E8F7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14F59"/>
          </a:solidFill>
          <a:ln w="12700">
            <a:solidFill>
              <a:srgbClr val="014F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Charity Organization Website  |  Jana Hassan &amp; Seif Ahmed  |  UNICEF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005840"/>
            <a:ext cx="40233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7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005840"/>
            <a:ext cx="402336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0058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BUSINESS NEED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144475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professional digital presence for the charity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185623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Limited fundraising and community engagement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226771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mechanism for online donation collection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502920" y="267919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volunteer recruitment channel</a:t>
            </a:r>
            <a:endParaRPr lang="en-US" sz="1100" dirty="0"/>
          </a:p>
        </p:txBody>
      </p:sp>
      <p:sp>
        <p:nvSpPr>
          <p:cNvPr id="16" name="Text 14"/>
          <p:cNvSpPr/>
          <p:nvPr/>
        </p:nvSpPr>
        <p:spPr>
          <a:xfrm>
            <a:off x="502920" y="3090672"/>
            <a:ext cx="374904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▸  </a:t>
            </a:r>
            <a:r>
              <a:rPr lang="en-US" sz="11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 platform to promote events &amp; projects</a:t>
            </a:r>
            <a:endParaRPr lang="en-US" sz="1100" dirty="0"/>
          </a:p>
        </p:txBody>
      </p:sp>
      <p:sp>
        <p:nvSpPr>
          <p:cNvPr id="17" name="Shape 15"/>
          <p:cNvSpPr/>
          <p:nvPr/>
        </p:nvSpPr>
        <p:spPr>
          <a:xfrm>
            <a:off x="4663440" y="1005840"/>
            <a:ext cx="41148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7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4663440" y="1005840"/>
            <a:ext cx="4114800" cy="347472"/>
          </a:xfrm>
          <a:prstGeom prst="rect">
            <a:avLst/>
          </a:prstGeom>
          <a:solidFill>
            <a:srgbClr val="014F59"/>
          </a:solidFill>
          <a:ln w="12700">
            <a:solidFill>
              <a:srgbClr val="014F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4663440" y="10058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EXPECTED IMPACT</a:t>
            </a:r>
            <a:endParaRPr lang="en-US" sz="1000" dirty="0"/>
          </a:p>
        </p:txBody>
      </p:sp>
      <p:sp>
        <p:nvSpPr>
          <p:cNvPr id="20" name="Shape 18"/>
          <p:cNvSpPr/>
          <p:nvPr/>
        </p:nvSpPr>
        <p:spPr>
          <a:xfrm>
            <a:off x="4800600" y="1463040"/>
            <a:ext cx="3840480" cy="640080"/>
          </a:xfrm>
          <a:prstGeom prst="rect">
            <a:avLst/>
          </a:prstGeom>
          <a:solidFill>
            <a:srgbClr val="E8F7F8"/>
          </a:solidFill>
          <a:ln w="12700">
            <a:solidFill>
              <a:srgbClr val="7FB8B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846320" y="1481328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+40%</a:t>
            </a:r>
            <a:endParaRPr lang="en-US" sz="2200" dirty="0"/>
          </a:p>
        </p:txBody>
      </p:sp>
      <p:sp>
        <p:nvSpPr>
          <p:cNvPr id="22" name="Text 20"/>
          <p:cNvSpPr/>
          <p:nvPr/>
        </p:nvSpPr>
        <p:spPr>
          <a:xfrm>
            <a:off x="5806440" y="1481328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Donation accessibility</a:t>
            </a:r>
            <a:endParaRPr lang="en-US" sz="1200" dirty="0"/>
          </a:p>
        </p:txBody>
      </p:sp>
      <p:sp>
        <p:nvSpPr>
          <p:cNvPr id="23" name="Shape 21"/>
          <p:cNvSpPr/>
          <p:nvPr/>
        </p:nvSpPr>
        <p:spPr>
          <a:xfrm>
            <a:off x="4800600" y="2212848"/>
            <a:ext cx="3840480" cy="640080"/>
          </a:xfrm>
          <a:prstGeom prst="rect">
            <a:avLst/>
          </a:prstGeom>
          <a:solidFill>
            <a:srgbClr val="E8F7F8"/>
          </a:solidFill>
          <a:ln w="12700">
            <a:solidFill>
              <a:srgbClr val="7FB8B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846320" y="2231136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+50%</a:t>
            </a:r>
            <a:endParaRPr lang="en-US" sz="2200" dirty="0"/>
          </a:p>
        </p:txBody>
      </p:sp>
      <p:sp>
        <p:nvSpPr>
          <p:cNvPr id="25" name="Text 23"/>
          <p:cNvSpPr/>
          <p:nvPr/>
        </p:nvSpPr>
        <p:spPr>
          <a:xfrm>
            <a:off x="5806440" y="2231136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registration efficiency</a:t>
            </a:r>
            <a:endParaRPr lang="en-US" sz="1200" dirty="0"/>
          </a:p>
        </p:txBody>
      </p:sp>
      <p:sp>
        <p:nvSpPr>
          <p:cNvPr id="26" name="Shape 24"/>
          <p:cNvSpPr/>
          <p:nvPr/>
        </p:nvSpPr>
        <p:spPr>
          <a:xfrm>
            <a:off x="4800600" y="2962656"/>
            <a:ext cx="3840480" cy="640080"/>
          </a:xfrm>
          <a:prstGeom prst="rect">
            <a:avLst/>
          </a:prstGeom>
          <a:solidFill>
            <a:srgbClr val="E8F7F8"/>
          </a:solidFill>
          <a:ln w="12700">
            <a:solidFill>
              <a:srgbClr val="7FB8B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4846320" y="2980944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7+</a:t>
            </a:r>
            <a:endParaRPr lang="en-US" sz="2200" dirty="0"/>
          </a:p>
        </p:txBody>
      </p:sp>
      <p:sp>
        <p:nvSpPr>
          <p:cNvPr id="28" name="Text 26"/>
          <p:cNvSpPr/>
          <p:nvPr/>
        </p:nvSpPr>
        <p:spPr>
          <a:xfrm>
            <a:off x="5806440" y="2980944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Fully functional website pages</a:t>
            </a:r>
            <a:endParaRPr lang="en-US" sz="1200" dirty="0"/>
          </a:p>
        </p:txBody>
      </p:sp>
      <p:sp>
        <p:nvSpPr>
          <p:cNvPr id="29" name="Shape 27"/>
          <p:cNvSpPr/>
          <p:nvPr/>
        </p:nvSpPr>
        <p:spPr>
          <a:xfrm>
            <a:off x="4800600" y="3712464"/>
            <a:ext cx="3840480" cy="640080"/>
          </a:xfrm>
          <a:prstGeom prst="rect">
            <a:avLst/>
          </a:prstGeom>
          <a:solidFill>
            <a:srgbClr val="E8F7F8"/>
          </a:solidFill>
          <a:ln w="12700">
            <a:solidFill>
              <a:srgbClr val="7FB8BE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4846320" y="3730752"/>
            <a:ext cx="91440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&lt;3s</a:t>
            </a:r>
            <a:endParaRPr lang="en-US" sz="2200" dirty="0"/>
          </a:p>
        </p:txBody>
      </p:sp>
      <p:sp>
        <p:nvSpPr>
          <p:cNvPr id="31" name="Text 29"/>
          <p:cNvSpPr/>
          <p:nvPr/>
        </p:nvSpPr>
        <p:spPr>
          <a:xfrm>
            <a:off x="5806440" y="3730752"/>
            <a:ext cx="2651760" cy="56692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2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load time target</a:t>
            </a:r>
            <a:endParaRPr lang="en-US" sz="1200" dirty="0"/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3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14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Charter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Objectives, scope boundaries, milestones &amp; authorization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0"/>
          </a:xfrm>
          <a:prstGeom prst="line">
            <a:avLst/>
          </a:prstGeom>
          <a:noFill/>
          <a:ln w="19050">
            <a:solidFill>
              <a:srgbClr val="E8F7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14F59"/>
          </a:solidFill>
          <a:ln w="12700">
            <a:solidFill>
              <a:srgbClr val="014F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Charity Organization Website  |  Jana Hassan &amp; Seif Ahmed  |  UNICEF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005840"/>
            <a:ext cx="50292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7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502920" y="1051560"/>
            <a:ext cx="47548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OBJECTIVES</a:t>
            </a:r>
            <a:endParaRPr lang="en-US" sz="1000" dirty="0"/>
          </a:p>
        </p:txBody>
      </p:sp>
      <p:sp>
        <p:nvSpPr>
          <p:cNvPr id="11" name="Text 9"/>
          <p:cNvSpPr/>
          <p:nvPr/>
        </p:nvSpPr>
        <p:spPr>
          <a:xfrm>
            <a:off x="502920" y="1389888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  </a:t>
            </a:r>
            <a:r>
              <a:rPr lang="en-US" sz="11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Full frontend + backend website by 21 Jun 2026</a:t>
            </a:r>
            <a:endParaRPr lang="en-US" sz="1100" dirty="0"/>
          </a:p>
        </p:txBody>
      </p:sp>
      <p:sp>
        <p:nvSpPr>
          <p:cNvPr id="12" name="Text 10"/>
          <p:cNvSpPr/>
          <p:nvPr/>
        </p:nvSpPr>
        <p:spPr>
          <a:xfrm>
            <a:off x="502920" y="1792224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2.  </a:t>
            </a:r>
            <a:r>
              <a:rPr lang="en-US" sz="11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8 pages with error-free navigation by 25 May</a:t>
            </a:r>
            <a:endParaRPr lang="en-US" sz="1100" dirty="0"/>
          </a:p>
        </p:txBody>
      </p:sp>
      <p:sp>
        <p:nvSpPr>
          <p:cNvPr id="13" name="Text 11"/>
          <p:cNvSpPr/>
          <p:nvPr/>
        </p:nvSpPr>
        <p:spPr>
          <a:xfrm>
            <a:off x="502920" y="2194560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3.  </a:t>
            </a:r>
            <a:r>
              <a:rPr lang="en-US" sz="11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 load time &lt; 3 seconds (Chrome &amp; Edge)</a:t>
            </a:r>
            <a:endParaRPr lang="en-US" sz="1100" dirty="0"/>
          </a:p>
        </p:txBody>
      </p:sp>
      <p:sp>
        <p:nvSpPr>
          <p:cNvPr id="14" name="Text 12"/>
          <p:cNvSpPr/>
          <p:nvPr/>
        </p:nvSpPr>
        <p:spPr>
          <a:xfrm>
            <a:off x="502920" y="2596896"/>
            <a:ext cx="47548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4.  </a:t>
            </a:r>
            <a:r>
              <a:rPr lang="en-US" sz="11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100% form validation pass rate by 21 Jun 2026</a:t>
            </a:r>
            <a:endParaRPr lang="en-US" sz="1100" dirty="0"/>
          </a:p>
        </p:txBody>
      </p:sp>
      <p:sp>
        <p:nvSpPr>
          <p:cNvPr id="15" name="Shape 13"/>
          <p:cNvSpPr/>
          <p:nvPr/>
        </p:nvSpPr>
        <p:spPr>
          <a:xfrm>
            <a:off x="5577840" y="1005840"/>
            <a:ext cx="3200400" cy="2148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7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5669280" y="1051560"/>
            <a:ext cx="29260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BOUNDARIES</a:t>
            </a:r>
            <a:endParaRPr lang="en-US" sz="1000" dirty="0"/>
          </a:p>
        </p:txBody>
      </p:sp>
      <p:sp>
        <p:nvSpPr>
          <p:cNvPr id="17" name="Text 15"/>
          <p:cNvSpPr/>
          <p:nvPr/>
        </p:nvSpPr>
        <p:spPr>
          <a:xfrm>
            <a:off x="5669280" y="1275588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3DB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✔ IN SCOPE</a:t>
            </a:r>
            <a:endParaRPr lang="en-US" sz="900" dirty="0"/>
          </a:p>
        </p:txBody>
      </p:sp>
      <p:sp>
        <p:nvSpPr>
          <p:cNvPr id="18" name="Text 16"/>
          <p:cNvSpPr/>
          <p:nvPr/>
        </p:nvSpPr>
        <p:spPr>
          <a:xfrm>
            <a:off x="5669280" y="1497330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HTML/CSS/JS frontend</a:t>
            </a:r>
            <a:endParaRPr lang="en-US" sz="1000" dirty="0"/>
          </a:p>
        </p:txBody>
      </p:sp>
      <p:sp>
        <p:nvSpPr>
          <p:cNvPr id="19" name="Text 17"/>
          <p:cNvSpPr/>
          <p:nvPr/>
        </p:nvSpPr>
        <p:spPr>
          <a:xfrm>
            <a:off x="5669280" y="1694111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Responsive design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669280" y="1897934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Basic backend support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669280" y="2089219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Form validation</a:t>
            </a:r>
            <a:endParaRPr lang="en-US" sz="1000" dirty="0"/>
          </a:p>
        </p:txBody>
      </p:sp>
      <p:sp>
        <p:nvSpPr>
          <p:cNvPr id="22" name="Text 20"/>
          <p:cNvSpPr/>
          <p:nvPr/>
        </p:nvSpPr>
        <p:spPr>
          <a:xfrm>
            <a:off x="5669280" y="2290803"/>
            <a:ext cx="29260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✘ OUT OF SCOPE</a:t>
            </a:r>
            <a:endParaRPr lang="en-US" sz="900" dirty="0"/>
          </a:p>
        </p:txBody>
      </p:sp>
      <p:sp>
        <p:nvSpPr>
          <p:cNvPr id="23" name="Text 21"/>
          <p:cNvSpPr/>
          <p:nvPr/>
        </p:nvSpPr>
        <p:spPr>
          <a:xfrm>
            <a:off x="5669280" y="2519403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Native mobile app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5669280" y="2715768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Live hosting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5669280" y="2912595"/>
            <a:ext cx="283464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• Real payment gateway</a:t>
            </a:r>
            <a:endParaRPr lang="en-US" sz="1000" dirty="0"/>
          </a:p>
        </p:txBody>
      </p:sp>
      <p:sp>
        <p:nvSpPr>
          <p:cNvPr id="26" name="Shape 24"/>
          <p:cNvSpPr/>
          <p:nvPr/>
        </p:nvSpPr>
        <p:spPr>
          <a:xfrm>
            <a:off x="365760" y="3291839"/>
            <a:ext cx="8412480" cy="1143001"/>
          </a:xfrm>
          <a:prstGeom prst="rect">
            <a:avLst/>
          </a:prstGeom>
          <a:solidFill>
            <a:srgbClr val="FFFFFF"/>
          </a:solidFill>
          <a:ln w="12700">
            <a:solidFill>
              <a:srgbClr val="E8F7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502920" y="3291840"/>
            <a:ext cx="82296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MILESTONES</a:t>
            </a:r>
            <a:endParaRPr lang="en-US" sz="1000" dirty="0"/>
          </a:p>
        </p:txBody>
      </p:sp>
      <p:sp>
        <p:nvSpPr>
          <p:cNvPr id="28" name="Shape 26"/>
          <p:cNvSpPr/>
          <p:nvPr/>
        </p:nvSpPr>
        <p:spPr>
          <a:xfrm>
            <a:off x="640080" y="3931920"/>
            <a:ext cx="8138160" cy="0"/>
          </a:xfrm>
          <a:prstGeom prst="line">
            <a:avLst/>
          </a:prstGeom>
          <a:noFill/>
          <a:ln w="12700">
            <a:solidFill>
              <a:srgbClr val="7FB8BE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594360" y="3858768"/>
            <a:ext cx="182880" cy="1828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365760" y="36118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Mar</a:t>
            </a:r>
            <a:endParaRPr lang="en-US" sz="800" dirty="0"/>
          </a:p>
        </p:txBody>
      </p:sp>
      <p:sp>
        <p:nvSpPr>
          <p:cNvPr id="31" name="Text 29"/>
          <p:cNvSpPr/>
          <p:nvPr/>
        </p:nvSpPr>
        <p:spPr>
          <a:xfrm>
            <a:off x="274320" y="408736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Charter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Approval</a:t>
            </a:r>
            <a:endParaRPr lang="en-US" sz="800" dirty="0"/>
          </a:p>
        </p:txBody>
      </p:sp>
      <p:sp>
        <p:nvSpPr>
          <p:cNvPr id="32" name="Shape 30"/>
          <p:cNvSpPr/>
          <p:nvPr/>
        </p:nvSpPr>
        <p:spPr>
          <a:xfrm>
            <a:off x="1810512" y="3858768"/>
            <a:ext cx="182880" cy="1828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581912" y="36118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Mar</a:t>
            </a:r>
            <a:endParaRPr lang="en-US" sz="800" dirty="0"/>
          </a:p>
        </p:txBody>
      </p:sp>
      <p:sp>
        <p:nvSpPr>
          <p:cNvPr id="34" name="Text 32"/>
          <p:cNvSpPr/>
          <p:nvPr/>
        </p:nvSpPr>
        <p:spPr>
          <a:xfrm>
            <a:off x="1490472" y="408736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Req's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800" dirty="0"/>
          </a:p>
        </p:txBody>
      </p:sp>
      <p:sp>
        <p:nvSpPr>
          <p:cNvPr id="35" name="Shape 33"/>
          <p:cNvSpPr/>
          <p:nvPr/>
        </p:nvSpPr>
        <p:spPr>
          <a:xfrm>
            <a:off x="3026664" y="3858768"/>
            <a:ext cx="182880" cy="1828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2798064" y="36118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Apr</a:t>
            </a:r>
            <a:endParaRPr lang="en-US" sz="800" dirty="0"/>
          </a:p>
        </p:txBody>
      </p:sp>
      <p:sp>
        <p:nvSpPr>
          <p:cNvPr id="37" name="Text 35"/>
          <p:cNvSpPr/>
          <p:nvPr/>
        </p:nvSpPr>
        <p:spPr>
          <a:xfrm>
            <a:off x="2706624" y="408736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</a:t>
            </a:r>
            <a:endParaRPr lang="en-US" sz="800" dirty="0"/>
          </a:p>
        </p:txBody>
      </p:sp>
      <p:sp>
        <p:nvSpPr>
          <p:cNvPr id="38" name="Shape 36"/>
          <p:cNvSpPr/>
          <p:nvPr/>
        </p:nvSpPr>
        <p:spPr>
          <a:xfrm>
            <a:off x="4242816" y="3858768"/>
            <a:ext cx="182880" cy="1828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4014216" y="36118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30 Apr</a:t>
            </a:r>
            <a:endParaRPr lang="en-US" sz="800" dirty="0"/>
          </a:p>
        </p:txBody>
      </p:sp>
      <p:sp>
        <p:nvSpPr>
          <p:cNvPr id="40" name="Text 38"/>
          <p:cNvSpPr/>
          <p:nvPr/>
        </p:nvSpPr>
        <p:spPr>
          <a:xfrm>
            <a:off x="3922776" y="408736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Complete</a:t>
            </a:r>
            <a:endParaRPr lang="en-US" sz="800" dirty="0"/>
          </a:p>
        </p:txBody>
      </p:sp>
      <p:sp>
        <p:nvSpPr>
          <p:cNvPr id="41" name="Shape 39"/>
          <p:cNvSpPr/>
          <p:nvPr/>
        </p:nvSpPr>
        <p:spPr>
          <a:xfrm>
            <a:off x="5458968" y="3858768"/>
            <a:ext cx="182880" cy="1828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5230368" y="36118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25 May</a:t>
            </a:r>
            <a:endParaRPr lang="en-US" sz="800" dirty="0"/>
          </a:p>
        </p:txBody>
      </p:sp>
      <p:sp>
        <p:nvSpPr>
          <p:cNvPr id="43" name="Text 41"/>
          <p:cNvSpPr/>
          <p:nvPr/>
        </p:nvSpPr>
        <p:spPr>
          <a:xfrm>
            <a:off x="5138928" y="408736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Pages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00" dirty="0"/>
          </a:p>
        </p:txBody>
      </p:sp>
      <p:sp>
        <p:nvSpPr>
          <p:cNvPr id="44" name="Shape 42"/>
          <p:cNvSpPr/>
          <p:nvPr/>
        </p:nvSpPr>
        <p:spPr>
          <a:xfrm>
            <a:off x="6675120" y="3858768"/>
            <a:ext cx="182880" cy="1828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6446520" y="36118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Jun</a:t>
            </a:r>
            <a:endParaRPr lang="en-US" sz="800" dirty="0"/>
          </a:p>
        </p:txBody>
      </p:sp>
      <p:sp>
        <p:nvSpPr>
          <p:cNvPr id="46" name="Text 44"/>
          <p:cNvSpPr/>
          <p:nvPr/>
        </p:nvSpPr>
        <p:spPr>
          <a:xfrm>
            <a:off x="6355080" y="408736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Done</a:t>
            </a:r>
            <a:endParaRPr lang="en-US" sz="800" dirty="0"/>
          </a:p>
        </p:txBody>
      </p:sp>
      <p:sp>
        <p:nvSpPr>
          <p:cNvPr id="47" name="Shape 45"/>
          <p:cNvSpPr/>
          <p:nvPr/>
        </p:nvSpPr>
        <p:spPr>
          <a:xfrm>
            <a:off x="7891272" y="3858768"/>
            <a:ext cx="182880" cy="182880"/>
          </a:xfrm>
          <a:prstGeom prst="ellipse">
            <a:avLst/>
          </a:prstGeom>
          <a:solidFill>
            <a:srgbClr val="02C39A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7662672" y="3611880"/>
            <a:ext cx="64008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b="1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Jun</a:t>
            </a:r>
            <a:endParaRPr lang="en-US" sz="800" dirty="0"/>
          </a:p>
        </p:txBody>
      </p:sp>
      <p:sp>
        <p:nvSpPr>
          <p:cNvPr id="49" name="Text 47"/>
          <p:cNvSpPr/>
          <p:nvPr/>
        </p:nvSpPr>
        <p:spPr>
          <a:xfrm>
            <a:off x="7571232" y="4087368"/>
            <a:ext cx="822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800" dirty="0"/>
          </a:p>
          <a:p>
            <a:pPr marL="0" indent="0" algn="ctr">
              <a:buNone/>
            </a:pPr>
            <a:r>
              <a:rPr lang="en-US" sz="8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012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14F59"/>
          </a:solidFill>
          <a:ln w="12700">
            <a:solidFill>
              <a:srgbClr val="014F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274320" y="490118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Charity Organization Website  |  Jana Hassan &amp; Seif Ahmed  |  UNICEF</a:t>
            </a:r>
            <a:endParaRPr lang="en-US" sz="900" dirty="0"/>
          </a:p>
        </p:txBody>
      </p:sp>
      <p:sp>
        <p:nvSpPr>
          <p:cNvPr id="5" name="Shape 3"/>
          <p:cNvSpPr/>
          <p:nvPr/>
        </p:nvSpPr>
        <p:spPr>
          <a:xfrm>
            <a:off x="0" y="6350"/>
            <a:ext cx="9144000" cy="960120"/>
          </a:xfrm>
          <a:prstGeom prst="rect">
            <a:avLst/>
          </a:prstGeom>
          <a:solidFill>
            <a:srgbClr val="014F59"/>
          </a:solidFill>
          <a:ln w="12700">
            <a:solidFill>
              <a:srgbClr val="014F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Text 4"/>
          <p:cNvSpPr/>
          <p:nvPr/>
        </p:nvSpPr>
        <p:spPr>
          <a:xfrm>
            <a:off x="365760" y="137160"/>
            <a:ext cx="841248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2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Management Plan (PMP)</a:t>
            </a:r>
            <a:endParaRPr lang="en-US" sz="2600" dirty="0"/>
          </a:p>
        </p:txBody>
      </p:sp>
      <p:sp>
        <p:nvSpPr>
          <p:cNvPr id="7" name="Text 5"/>
          <p:cNvSpPr/>
          <p:nvPr/>
        </p:nvSpPr>
        <p:spPr>
          <a:xfrm>
            <a:off x="365760" y="621792"/>
            <a:ext cx="8412480" cy="256032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Seven subsidiary plans + three baselines — the governance backbone of the project</a:t>
            </a:r>
            <a:endParaRPr lang="en-US" sz="1100" dirty="0"/>
          </a:p>
        </p:txBody>
      </p:sp>
      <p:sp>
        <p:nvSpPr>
          <p:cNvPr id="8" name="Shape 6"/>
          <p:cNvSpPr/>
          <p:nvPr/>
        </p:nvSpPr>
        <p:spPr>
          <a:xfrm>
            <a:off x="320040" y="1078992"/>
            <a:ext cx="4206240" cy="804672"/>
          </a:xfrm>
          <a:prstGeom prst="rect">
            <a:avLst/>
          </a:prstGeom>
          <a:solidFill>
            <a:srgbClr val="0A3A45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9" name="Shape 7"/>
          <p:cNvSpPr/>
          <p:nvPr/>
        </p:nvSpPr>
        <p:spPr>
          <a:xfrm>
            <a:off x="320040" y="1078992"/>
            <a:ext cx="45720" cy="8046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12471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Management Plan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457200" y="1426464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scope is defined, validated &amp; controlled. Formal CR process enforced.</a:t>
            </a:r>
            <a:endParaRPr lang="en-US" sz="950" dirty="0"/>
          </a:p>
        </p:txBody>
      </p:sp>
      <p:sp>
        <p:nvSpPr>
          <p:cNvPr id="12" name="Shape 10"/>
          <p:cNvSpPr/>
          <p:nvPr/>
        </p:nvSpPr>
        <p:spPr>
          <a:xfrm>
            <a:off x="320040" y="1975104"/>
            <a:ext cx="4206240" cy="804672"/>
          </a:xfrm>
          <a:prstGeom prst="rect">
            <a:avLst/>
          </a:prstGeom>
          <a:solidFill>
            <a:srgbClr val="0A3A45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20040" y="1975104"/>
            <a:ext cx="45720" cy="8046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457200" y="202082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Management Plan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2322576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CPM + PERT. 8 milestones. Weekly SPI tracking. Jira + Gantt.</a:t>
            </a:r>
            <a:endParaRPr lang="en-US" sz="950" dirty="0"/>
          </a:p>
        </p:txBody>
      </p:sp>
      <p:sp>
        <p:nvSpPr>
          <p:cNvPr id="16" name="Shape 14"/>
          <p:cNvSpPr/>
          <p:nvPr/>
        </p:nvSpPr>
        <p:spPr>
          <a:xfrm>
            <a:off x="320040" y="2871216"/>
            <a:ext cx="4206240" cy="804672"/>
          </a:xfrm>
          <a:prstGeom prst="rect">
            <a:avLst/>
          </a:prstGeom>
          <a:solidFill>
            <a:srgbClr val="0A3A45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320040" y="2871216"/>
            <a:ext cx="45720" cy="8046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291693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Management Plan</a:t>
            </a:r>
            <a:endParaRPr lang="en-US" sz="1100" dirty="0"/>
          </a:p>
        </p:txBody>
      </p:sp>
      <p:sp>
        <p:nvSpPr>
          <p:cNvPr id="19" name="Text 17"/>
          <p:cNvSpPr/>
          <p:nvPr/>
        </p:nvSpPr>
        <p:spPr>
          <a:xfrm>
            <a:off x="457200" y="3218688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Bottom-up estimation. EVM weekly. $4,620 total budget.</a:t>
            </a:r>
            <a:endParaRPr lang="en-US" sz="950" dirty="0"/>
          </a:p>
        </p:txBody>
      </p:sp>
      <p:sp>
        <p:nvSpPr>
          <p:cNvPr id="20" name="Shape 18"/>
          <p:cNvSpPr/>
          <p:nvPr/>
        </p:nvSpPr>
        <p:spPr>
          <a:xfrm>
            <a:off x="320040" y="3767328"/>
            <a:ext cx="4206240" cy="804672"/>
          </a:xfrm>
          <a:prstGeom prst="rect">
            <a:avLst/>
          </a:prstGeom>
          <a:solidFill>
            <a:srgbClr val="0A3A45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320040" y="3767328"/>
            <a:ext cx="45720" cy="8046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3813048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Management Plan</a:t>
            </a:r>
            <a:endParaRPr lang="en-US" sz="1100" dirty="0"/>
          </a:p>
        </p:txBody>
      </p:sp>
      <p:sp>
        <p:nvSpPr>
          <p:cNvPr id="23" name="Text 21"/>
          <p:cNvSpPr/>
          <p:nvPr/>
        </p:nvSpPr>
        <p:spPr>
          <a:xfrm>
            <a:off x="457200" y="4114800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ISO 9000. Control charts, Pareto, defect tracking in Jira.</a:t>
            </a:r>
            <a:endParaRPr lang="en-US" sz="950" dirty="0"/>
          </a:p>
        </p:txBody>
      </p:sp>
      <p:sp>
        <p:nvSpPr>
          <p:cNvPr id="24" name="Shape 22"/>
          <p:cNvSpPr/>
          <p:nvPr/>
        </p:nvSpPr>
        <p:spPr>
          <a:xfrm>
            <a:off x="4892040" y="1078992"/>
            <a:ext cx="4206240" cy="804672"/>
          </a:xfrm>
          <a:prstGeom prst="rect">
            <a:avLst/>
          </a:prstGeom>
          <a:solidFill>
            <a:srgbClr val="0A3A45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Shape 23"/>
          <p:cNvSpPr/>
          <p:nvPr/>
        </p:nvSpPr>
        <p:spPr>
          <a:xfrm>
            <a:off x="4892040" y="1078992"/>
            <a:ext cx="45720" cy="8046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5029200" y="1124712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Management Plan</a:t>
            </a:r>
            <a:endParaRPr lang="en-US" sz="1100" dirty="0"/>
          </a:p>
        </p:txBody>
      </p:sp>
      <p:sp>
        <p:nvSpPr>
          <p:cNvPr id="27" name="Text 25"/>
          <p:cNvSpPr/>
          <p:nvPr/>
        </p:nvSpPr>
        <p:spPr>
          <a:xfrm>
            <a:off x="5029200" y="1426464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5-member team. Tuckman model. RAM/RACI defined.</a:t>
            </a:r>
            <a:endParaRPr lang="en-US" sz="950" dirty="0"/>
          </a:p>
        </p:txBody>
      </p:sp>
      <p:sp>
        <p:nvSpPr>
          <p:cNvPr id="28" name="Shape 26"/>
          <p:cNvSpPr/>
          <p:nvPr/>
        </p:nvSpPr>
        <p:spPr>
          <a:xfrm>
            <a:off x="4892040" y="1975104"/>
            <a:ext cx="4206240" cy="804672"/>
          </a:xfrm>
          <a:prstGeom prst="rect">
            <a:avLst/>
          </a:prstGeom>
          <a:solidFill>
            <a:srgbClr val="0A3A45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4892040" y="1975104"/>
            <a:ext cx="45720" cy="8046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5029200" y="2020824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 Plan</a:t>
            </a:r>
            <a:endParaRPr lang="en-US" sz="1100" dirty="0"/>
          </a:p>
        </p:txBody>
      </p:sp>
      <p:sp>
        <p:nvSpPr>
          <p:cNvPr id="31" name="Text 29"/>
          <p:cNvSpPr/>
          <p:nvPr/>
        </p:nvSpPr>
        <p:spPr>
          <a:xfrm>
            <a:off x="5029200" y="2322576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risks identified. P×I matrix. Top-10 tracking weekly.</a:t>
            </a:r>
            <a:endParaRPr lang="en-US" sz="950" dirty="0"/>
          </a:p>
        </p:txBody>
      </p:sp>
      <p:sp>
        <p:nvSpPr>
          <p:cNvPr id="32" name="Shape 30"/>
          <p:cNvSpPr/>
          <p:nvPr/>
        </p:nvSpPr>
        <p:spPr>
          <a:xfrm>
            <a:off x="4892040" y="2871216"/>
            <a:ext cx="4206240" cy="804672"/>
          </a:xfrm>
          <a:prstGeom prst="rect">
            <a:avLst/>
          </a:prstGeom>
          <a:solidFill>
            <a:srgbClr val="0A3A45"/>
          </a:solidFill>
          <a:ln w="12700">
            <a:solidFill>
              <a:srgbClr val="028090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3" name="Shape 31"/>
          <p:cNvSpPr/>
          <p:nvPr/>
        </p:nvSpPr>
        <p:spPr>
          <a:xfrm>
            <a:off x="4892040" y="2871216"/>
            <a:ext cx="45720" cy="804672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5029200" y="2916936"/>
            <a:ext cx="397764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r>
              <a:rPr lang="en-US" sz="1100" b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Management Plan</a:t>
            </a:r>
            <a:endParaRPr lang="en-US" sz="1100" dirty="0"/>
          </a:p>
        </p:txBody>
      </p:sp>
      <p:sp>
        <p:nvSpPr>
          <p:cNvPr id="35" name="Text 33"/>
          <p:cNvSpPr/>
          <p:nvPr/>
        </p:nvSpPr>
        <p:spPr>
          <a:xfrm>
            <a:off x="5029200" y="3218688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7F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channels. Push/Pull/Interactive. Weekly status reports.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4892040" y="3749040"/>
            <a:ext cx="4206240" cy="804672"/>
          </a:xfrm>
          <a:prstGeom prst="rect">
            <a:avLst/>
          </a:prstGeom>
          <a:solidFill>
            <a:srgbClr val="0A3A45"/>
          </a:solidFill>
          <a:ln w="12700">
            <a:solidFill>
              <a:srgbClr val="F5A623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5029200" y="3785616"/>
            <a:ext cx="39776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F5A62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THREE BASELINES</a:t>
            </a:r>
            <a:endParaRPr lang="en-US" sz="1000" dirty="0"/>
          </a:p>
        </p:txBody>
      </p:sp>
      <p:sp>
        <p:nvSpPr>
          <p:cNvPr id="38" name="Text 36"/>
          <p:cNvSpPr/>
          <p:nvPr/>
        </p:nvSpPr>
        <p:spPr>
          <a:xfrm>
            <a:off x="5029200" y="4059936"/>
            <a:ext cx="397764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7F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Baseline  |  Schedule Baseline  |  Cost Baseline ($4,400)</a:t>
            </a:r>
            <a:endParaRPr lang="en-US" sz="1000" dirty="0"/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14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&amp; Schedule Management Plans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How scope is controlled and schedule is developed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0"/>
          </a:xfrm>
          <a:prstGeom prst="line">
            <a:avLst/>
          </a:prstGeom>
          <a:noFill/>
          <a:ln w="19050">
            <a:solidFill>
              <a:srgbClr val="E8F7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14F59"/>
          </a:solidFill>
          <a:ln w="12700">
            <a:solidFill>
              <a:srgbClr val="014F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Charity Organization Website  |  Jana Hassan &amp; Seif Ahmed  |  UNICEF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005840"/>
            <a:ext cx="40233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7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005840"/>
            <a:ext cx="402336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0058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MANAGEMENT PLAN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502920" y="1444752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14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Definition</a:t>
            </a:r>
            <a:endParaRPr lang="en-US" sz="1050" dirty="0"/>
          </a:p>
        </p:txBody>
      </p:sp>
      <p:sp>
        <p:nvSpPr>
          <p:cNvPr id="13" name="Text 11"/>
          <p:cNvSpPr/>
          <p:nvPr/>
        </p:nvSpPr>
        <p:spPr>
          <a:xfrm>
            <a:off x="502920" y="1673352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Statement approved by UNICEF before execution</a:t>
            </a:r>
            <a:endParaRPr lang="en-US" sz="1000" dirty="0"/>
          </a:p>
        </p:txBody>
      </p:sp>
      <p:sp>
        <p:nvSpPr>
          <p:cNvPr id="14" name="Text 12"/>
          <p:cNvSpPr/>
          <p:nvPr/>
        </p:nvSpPr>
        <p:spPr>
          <a:xfrm>
            <a:off x="502920" y="2066544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14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WBS</a:t>
            </a:r>
            <a:endParaRPr lang="en-US" sz="1050" dirty="0"/>
          </a:p>
        </p:txBody>
      </p:sp>
      <p:sp>
        <p:nvSpPr>
          <p:cNvPr id="15" name="Text 13"/>
          <p:cNvSpPr/>
          <p:nvPr/>
        </p:nvSpPr>
        <p:spPr>
          <a:xfrm>
            <a:off x="502920" y="2295144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Top-down decomposition into 6 phases, 20 work packages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502920" y="2688336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14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Validation</a:t>
            </a:r>
            <a:endParaRPr lang="en-US" sz="1050" dirty="0"/>
          </a:p>
        </p:txBody>
      </p:sp>
      <p:sp>
        <p:nvSpPr>
          <p:cNvPr id="17" name="Text 15"/>
          <p:cNvSpPr/>
          <p:nvPr/>
        </p:nvSpPr>
        <p:spPr>
          <a:xfrm>
            <a:off x="502920" y="2916936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5-step sign-off process with UNICEF at each phase end</a:t>
            </a:r>
            <a:endParaRPr lang="en-US" sz="1000" dirty="0"/>
          </a:p>
        </p:txBody>
      </p:sp>
      <p:sp>
        <p:nvSpPr>
          <p:cNvPr id="18" name="Text 16"/>
          <p:cNvSpPr/>
          <p:nvPr/>
        </p:nvSpPr>
        <p:spPr>
          <a:xfrm>
            <a:off x="502920" y="3310128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14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Change Control</a:t>
            </a:r>
            <a:endParaRPr lang="en-US" sz="1050" dirty="0"/>
          </a:p>
        </p:txBody>
      </p:sp>
      <p:sp>
        <p:nvSpPr>
          <p:cNvPr id="19" name="Text 17"/>
          <p:cNvSpPr/>
          <p:nvPr/>
        </p:nvSpPr>
        <p:spPr>
          <a:xfrm>
            <a:off x="502920" y="3538728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7-step CR process: Submit → Analyze → UNICEF Approve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502920" y="3931920"/>
            <a:ext cx="374904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14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Creep Prevention</a:t>
            </a:r>
            <a:endParaRPr lang="en-US" sz="1050" dirty="0"/>
          </a:p>
        </p:txBody>
      </p:sp>
      <p:sp>
        <p:nvSpPr>
          <p:cNvPr id="21" name="Text 19"/>
          <p:cNvSpPr/>
          <p:nvPr/>
        </p:nvSpPr>
        <p:spPr>
          <a:xfrm>
            <a:off x="502920" y="4160520"/>
            <a:ext cx="37490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All reqs in Jira. No informal channels. Formal CR required</a:t>
            </a:r>
            <a:endParaRPr lang="en-US" sz="1000" dirty="0"/>
          </a:p>
        </p:txBody>
      </p:sp>
      <p:sp>
        <p:nvSpPr>
          <p:cNvPr id="22" name="Shape 20"/>
          <p:cNvSpPr/>
          <p:nvPr/>
        </p:nvSpPr>
        <p:spPr>
          <a:xfrm>
            <a:off x="4663440" y="1005840"/>
            <a:ext cx="41148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7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663440" y="1005840"/>
            <a:ext cx="4114800" cy="347472"/>
          </a:xfrm>
          <a:prstGeom prst="rect">
            <a:avLst/>
          </a:prstGeom>
          <a:solidFill>
            <a:srgbClr val="014F59"/>
          </a:solidFill>
          <a:ln w="12700">
            <a:solidFill>
              <a:srgbClr val="014F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663440" y="10058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MANAGEMENT PLAN</a:t>
            </a:r>
            <a:endParaRPr lang="en-US" sz="1000" dirty="0"/>
          </a:p>
        </p:txBody>
      </p:sp>
      <p:sp>
        <p:nvSpPr>
          <p:cNvPr id="25" name="Text 23"/>
          <p:cNvSpPr/>
          <p:nvPr/>
        </p:nvSpPr>
        <p:spPr>
          <a:xfrm>
            <a:off x="4800600" y="1444752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14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Method: CPM</a:t>
            </a:r>
            <a:endParaRPr lang="en-US" sz="1050" dirty="0"/>
          </a:p>
        </p:txBody>
      </p:sp>
      <p:sp>
        <p:nvSpPr>
          <p:cNvPr id="26" name="Text 24"/>
          <p:cNvSpPr/>
          <p:nvPr/>
        </p:nvSpPr>
        <p:spPr>
          <a:xfrm>
            <a:off x="4800600" y="167335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Path Method + PERT three-point estimates</a:t>
            </a:r>
            <a:endParaRPr lang="en-US" sz="1000" dirty="0"/>
          </a:p>
        </p:txBody>
      </p:sp>
      <p:sp>
        <p:nvSpPr>
          <p:cNvPr id="27" name="Text 25"/>
          <p:cNvSpPr/>
          <p:nvPr/>
        </p:nvSpPr>
        <p:spPr>
          <a:xfrm>
            <a:off x="4800600" y="2066544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14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Tool: Jira + Gantt</a:t>
            </a:r>
            <a:endParaRPr lang="en-US" sz="1050" dirty="0"/>
          </a:p>
        </p:txBody>
      </p:sp>
      <p:sp>
        <p:nvSpPr>
          <p:cNvPr id="28" name="Text 26"/>
          <p:cNvSpPr/>
          <p:nvPr/>
        </p:nvSpPr>
        <p:spPr>
          <a:xfrm>
            <a:off x="4800600" y="2295144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PDM (Finish-to-Start) network diagram</a:t>
            </a:r>
            <a:endParaRPr lang="en-US" sz="1000" dirty="0"/>
          </a:p>
        </p:txBody>
      </p:sp>
      <p:sp>
        <p:nvSpPr>
          <p:cNvPr id="29" name="Text 27"/>
          <p:cNvSpPr/>
          <p:nvPr/>
        </p:nvSpPr>
        <p:spPr>
          <a:xfrm>
            <a:off x="4800600" y="2688336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14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Calendar</a:t>
            </a:r>
            <a:endParaRPr lang="en-US" sz="1050" dirty="0"/>
          </a:p>
        </p:txBody>
      </p:sp>
      <p:sp>
        <p:nvSpPr>
          <p:cNvPr id="30" name="Text 28"/>
          <p:cNvSpPr/>
          <p:nvPr/>
        </p:nvSpPr>
        <p:spPr>
          <a:xfrm>
            <a:off x="4800600" y="2916936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Sun–Thu, 8 hrs/day, 70 working days total</a:t>
            </a:r>
            <a:endParaRPr lang="en-US" sz="1000" dirty="0"/>
          </a:p>
        </p:txBody>
      </p:sp>
      <p:sp>
        <p:nvSpPr>
          <p:cNvPr id="31" name="Text 29"/>
          <p:cNvSpPr/>
          <p:nvPr/>
        </p:nvSpPr>
        <p:spPr>
          <a:xfrm>
            <a:off x="4800600" y="3310128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14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Performance Metrics</a:t>
            </a:r>
            <a:endParaRPr lang="en-US" sz="1050" dirty="0"/>
          </a:p>
        </p:txBody>
      </p:sp>
      <p:sp>
        <p:nvSpPr>
          <p:cNvPr id="32" name="Text 30"/>
          <p:cNvSpPr/>
          <p:nvPr/>
        </p:nvSpPr>
        <p:spPr>
          <a:xfrm>
            <a:off x="4800600" y="3538728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SV = EV−PV  |  SPI = EV÷PV  (target ≥ 0.90)</a:t>
            </a:r>
            <a:endParaRPr lang="en-US" sz="1000" dirty="0"/>
          </a:p>
        </p:txBody>
      </p:sp>
      <p:sp>
        <p:nvSpPr>
          <p:cNvPr id="33" name="Text 31"/>
          <p:cNvSpPr/>
          <p:nvPr/>
        </p:nvSpPr>
        <p:spPr>
          <a:xfrm>
            <a:off x="4800600" y="3931920"/>
            <a:ext cx="384048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50" b="1" dirty="0">
                <a:solidFill>
                  <a:srgbClr val="014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Control Thresholds</a:t>
            </a:r>
            <a:endParaRPr lang="en-US" sz="1050" dirty="0"/>
          </a:p>
        </p:txBody>
      </p:sp>
      <p:sp>
        <p:nvSpPr>
          <p:cNvPr id="34" name="Text 32"/>
          <p:cNvSpPr/>
          <p:nvPr/>
        </p:nvSpPr>
        <p:spPr>
          <a:xfrm>
            <a:off x="4800600" y="4160520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🟢 ≤2 days  |  🟡 3–5 days  |  🔴 &gt;5 days → escalate</a:t>
            </a:r>
            <a:endParaRPr lang="en-US" sz="1000" dirty="0"/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14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Management Plan &amp; Budget Breakdown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EVM-based cost control with $4,620 total budget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0"/>
          </a:xfrm>
          <a:prstGeom prst="line">
            <a:avLst/>
          </a:prstGeom>
          <a:noFill/>
          <a:ln w="19050">
            <a:solidFill>
              <a:srgbClr val="E8F7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14F59"/>
          </a:solidFill>
          <a:ln w="12700">
            <a:solidFill>
              <a:srgbClr val="014F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Charity Organization Website  |  Jana Hassan &amp; Seif Ahmed  |  UNICEF</a:t>
            </a:r>
            <a:endParaRPr lang="en-US" sz="900" dirty="0"/>
          </a:p>
        </p:txBody>
      </p:sp>
      <p:graphicFrame>
        <p:nvGraphicFramePr>
          <p:cNvPr id="9" name="Chart 0"/>
          <p:cNvGraphicFramePr/>
          <p:nvPr/>
        </p:nvGraphicFramePr>
        <p:xfrm>
          <a:off x="365760" y="1005840"/>
          <a:ext cx="5029200" cy="27432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aphicFrame>
        <p:nvGraphicFramePr>
          <p:cNvPr id="10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5577840" y="1005840"/>
          <a:ext cx="3200400" cy="1828800"/>
        </p:xfrm>
        <a:graphic>
          <a:graphicData uri="http://schemas.openxmlformats.org/drawingml/2006/table">
            <a:tbl>
              <a:tblPr/>
              <a:tblGrid>
                <a:gridCol w="210312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972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</a:tblGrid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AMOUNT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Direct Cost (620 hrs × $6.45)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$4,000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Contingency Reserve (10%)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14F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Cost Baseline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014F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$4,400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Management Reserve (5%)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$220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48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TOTAL PROJECT BUDGET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F59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$4,620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14F59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sp>
        <p:nvSpPr>
          <p:cNvPr id="11" name="Shape 7"/>
          <p:cNvSpPr/>
          <p:nvPr/>
        </p:nvSpPr>
        <p:spPr>
          <a:xfrm>
            <a:off x="5577840" y="3017520"/>
            <a:ext cx="3200400" cy="73152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7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2" name="Text 8"/>
          <p:cNvSpPr/>
          <p:nvPr/>
        </p:nvSpPr>
        <p:spPr>
          <a:xfrm>
            <a:off x="5669280" y="3054096"/>
            <a:ext cx="301752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EVM Performance Rules</a:t>
            </a:r>
            <a:endParaRPr lang="en-US" sz="1000" dirty="0"/>
          </a:p>
        </p:txBody>
      </p:sp>
      <p:sp>
        <p:nvSpPr>
          <p:cNvPr id="13" name="Text 9"/>
          <p:cNvSpPr/>
          <p:nvPr/>
        </p:nvSpPr>
        <p:spPr>
          <a:xfrm>
            <a:off x="5669280" y="3310128"/>
            <a:ext cx="3017520" cy="402336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0/100 rule (≤2 days)  •  50/50 rule (3–10 days)</a:t>
            </a:r>
            <a:endParaRPr lang="en-US" sz="900" dirty="0"/>
          </a:p>
          <a:p>
            <a:pPr marL="0" indent="0">
              <a:buNone/>
            </a:pPr>
            <a:r>
              <a:rPr lang="en-US" sz="90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% Complete rule (&gt;10 days)  •  Review: every Thursday</a:t>
            </a:r>
            <a:endParaRPr lang="en-US" sz="900" dirty="0"/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14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&amp; Resource Management Plans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objectives, team structure and development approach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0"/>
          </a:xfrm>
          <a:prstGeom prst="line">
            <a:avLst/>
          </a:prstGeom>
          <a:noFill/>
          <a:ln w="19050">
            <a:solidFill>
              <a:srgbClr val="E8F7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14F59"/>
          </a:solidFill>
          <a:ln w="12700">
            <a:solidFill>
              <a:srgbClr val="014F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Charity Organization Website  |  Jana Hassan &amp; Seif Ahmed  |  UNICEF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005840"/>
            <a:ext cx="402336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7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Shape 8"/>
          <p:cNvSpPr/>
          <p:nvPr/>
        </p:nvSpPr>
        <p:spPr>
          <a:xfrm>
            <a:off x="365760" y="1005840"/>
            <a:ext cx="4023360" cy="347472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1" name="Text 9"/>
          <p:cNvSpPr/>
          <p:nvPr/>
        </p:nvSpPr>
        <p:spPr>
          <a:xfrm>
            <a:off x="365760" y="1005840"/>
            <a:ext cx="402336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QUALITY MANAGEMENT PLAN</a:t>
            </a:r>
            <a:endParaRPr lang="en-US" sz="1000" dirty="0"/>
          </a:p>
        </p:txBody>
      </p:sp>
      <p:graphicFrame>
        <p:nvGraphicFramePr>
          <p:cNvPr id="12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411480" y="1417320"/>
          <a:ext cx="3931920" cy="2907793"/>
        </p:xfrm>
        <a:graphic>
          <a:graphicData uri="http://schemas.openxmlformats.org/drawingml/2006/table">
            <a:tbl>
              <a:tblPr/>
              <a:tblGrid>
                <a:gridCol w="77724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01168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1430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153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Target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Metric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153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8/8 pages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Error-free navigation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25 May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153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&lt; 3 sec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load time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Jun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153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100%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Form validation pass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Jun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153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0 bugs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Critical defects at delivery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Jun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153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≥ 95%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UAT test case pass rate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15 Jun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1539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&gt; 85%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Usability satisfaction 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10 Apr 2026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3" name="Shape 10"/>
          <p:cNvSpPr/>
          <p:nvPr/>
        </p:nvSpPr>
        <p:spPr>
          <a:xfrm>
            <a:off x="4663440" y="1005840"/>
            <a:ext cx="4114800" cy="338328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7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Shape 11"/>
          <p:cNvSpPr/>
          <p:nvPr/>
        </p:nvSpPr>
        <p:spPr>
          <a:xfrm>
            <a:off x="4663440" y="1005840"/>
            <a:ext cx="4114800" cy="347472"/>
          </a:xfrm>
          <a:prstGeom prst="rect">
            <a:avLst/>
          </a:prstGeom>
          <a:solidFill>
            <a:srgbClr val="014F59"/>
          </a:solidFill>
          <a:ln w="12700">
            <a:solidFill>
              <a:srgbClr val="014F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2"/>
          <p:cNvSpPr/>
          <p:nvPr/>
        </p:nvSpPr>
        <p:spPr>
          <a:xfrm>
            <a:off x="4663440" y="1005840"/>
            <a:ext cx="41148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MANAGEMENT PLAN</a:t>
            </a:r>
            <a:endParaRPr lang="en-US" sz="1000" dirty="0"/>
          </a:p>
        </p:txBody>
      </p:sp>
      <p:sp>
        <p:nvSpPr>
          <p:cNvPr id="16" name="Shape 13"/>
          <p:cNvSpPr/>
          <p:nvPr/>
        </p:nvSpPr>
        <p:spPr>
          <a:xfrm>
            <a:off x="5394960" y="1444752"/>
            <a:ext cx="2468880" cy="36576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Text 14"/>
          <p:cNvSpPr/>
          <p:nvPr/>
        </p:nvSpPr>
        <p:spPr>
          <a:xfrm>
            <a:off x="5394960" y="144475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UNICEF (Sponsor)</a:t>
            </a:r>
            <a:endParaRPr lang="en-US" sz="1000" dirty="0"/>
          </a:p>
        </p:txBody>
      </p:sp>
      <p:sp>
        <p:nvSpPr>
          <p:cNvPr id="18" name="Shape 15"/>
          <p:cNvSpPr/>
          <p:nvPr/>
        </p:nvSpPr>
        <p:spPr>
          <a:xfrm>
            <a:off x="6629400" y="1810512"/>
            <a:ext cx="0" cy="274320"/>
          </a:xfrm>
          <a:prstGeom prst="line">
            <a:avLst/>
          </a:prstGeom>
          <a:noFill/>
          <a:ln w="12700">
            <a:solidFill>
              <a:srgbClr val="3D6B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Shape 16"/>
          <p:cNvSpPr/>
          <p:nvPr/>
        </p:nvSpPr>
        <p:spPr>
          <a:xfrm>
            <a:off x="5394960" y="2084832"/>
            <a:ext cx="2468880" cy="36576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7"/>
          <p:cNvSpPr/>
          <p:nvPr/>
        </p:nvSpPr>
        <p:spPr>
          <a:xfrm>
            <a:off x="5394960" y="2084832"/>
            <a:ext cx="2468880" cy="36576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Jana &amp; Seif (PMs)</a:t>
            </a:r>
            <a:endParaRPr lang="en-US" sz="1000" dirty="0"/>
          </a:p>
        </p:txBody>
      </p:sp>
      <p:sp>
        <p:nvSpPr>
          <p:cNvPr id="21" name="Shape 18"/>
          <p:cNvSpPr/>
          <p:nvPr/>
        </p:nvSpPr>
        <p:spPr>
          <a:xfrm>
            <a:off x="6629400" y="2450592"/>
            <a:ext cx="0" cy="274320"/>
          </a:xfrm>
          <a:prstGeom prst="line">
            <a:avLst/>
          </a:prstGeom>
          <a:noFill/>
          <a:ln w="12700">
            <a:solidFill>
              <a:srgbClr val="3D6B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Shape 19"/>
          <p:cNvSpPr/>
          <p:nvPr/>
        </p:nvSpPr>
        <p:spPr>
          <a:xfrm>
            <a:off x="5349240" y="2724912"/>
            <a:ext cx="2560320" cy="0"/>
          </a:xfrm>
          <a:prstGeom prst="line">
            <a:avLst/>
          </a:prstGeom>
          <a:noFill/>
          <a:ln w="12700">
            <a:solidFill>
              <a:srgbClr val="3D6B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0"/>
          <p:cNvSpPr/>
          <p:nvPr/>
        </p:nvSpPr>
        <p:spPr>
          <a:xfrm>
            <a:off x="5696712" y="2724912"/>
            <a:ext cx="0" cy="201168"/>
          </a:xfrm>
          <a:prstGeom prst="line">
            <a:avLst/>
          </a:prstGeom>
          <a:noFill/>
          <a:ln w="12700">
            <a:solidFill>
              <a:srgbClr val="3D6B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1"/>
          <p:cNvSpPr/>
          <p:nvPr/>
        </p:nvSpPr>
        <p:spPr>
          <a:xfrm>
            <a:off x="6663672" y="2720339"/>
            <a:ext cx="0" cy="201168"/>
          </a:xfrm>
          <a:prstGeom prst="line">
            <a:avLst/>
          </a:prstGeom>
          <a:noFill/>
          <a:ln w="12700">
            <a:solidFill>
              <a:srgbClr val="3D6B70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25" name="Shape 22"/>
          <p:cNvSpPr/>
          <p:nvPr/>
        </p:nvSpPr>
        <p:spPr>
          <a:xfrm>
            <a:off x="7541264" y="2720339"/>
            <a:ext cx="0" cy="201168"/>
          </a:xfrm>
          <a:prstGeom prst="line">
            <a:avLst/>
          </a:prstGeom>
          <a:noFill/>
          <a:ln w="12700">
            <a:solidFill>
              <a:srgbClr val="3D6B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3"/>
          <p:cNvSpPr/>
          <p:nvPr/>
        </p:nvSpPr>
        <p:spPr>
          <a:xfrm>
            <a:off x="5212080" y="2926080"/>
            <a:ext cx="914400" cy="411480"/>
          </a:xfrm>
          <a:prstGeom prst="rect">
            <a:avLst/>
          </a:prstGeom>
          <a:solidFill>
            <a:srgbClr val="E8F7F8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4"/>
          <p:cNvSpPr/>
          <p:nvPr/>
        </p:nvSpPr>
        <p:spPr>
          <a:xfrm>
            <a:off x="5212080" y="29260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14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Lead Dev</a:t>
            </a:r>
            <a:endParaRPr lang="en-US" sz="900" dirty="0"/>
          </a:p>
        </p:txBody>
      </p:sp>
      <p:sp>
        <p:nvSpPr>
          <p:cNvPr id="28" name="Shape 25"/>
          <p:cNvSpPr/>
          <p:nvPr/>
        </p:nvSpPr>
        <p:spPr>
          <a:xfrm>
            <a:off x="6200555" y="2921507"/>
            <a:ext cx="914400" cy="411480"/>
          </a:xfrm>
          <a:prstGeom prst="rect">
            <a:avLst/>
          </a:prstGeom>
          <a:solidFill>
            <a:srgbClr val="E8F7F8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Text 26"/>
          <p:cNvSpPr/>
          <p:nvPr/>
        </p:nvSpPr>
        <p:spPr>
          <a:xfrm>
            <a:off x="6207163" y="2916936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14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 Dev</a:t>
            </a:r>
            <a:endParaRPr lang="en-US" sz="900" dirty="0"/>
          </a:p>
        </p:txBody>
      </p:sp>
      <p:sp>
        <p:nvSpPr>
          <p:cNvPr id="30" name="Shape 27"/>
          <p:cNvSpPr/>
          <p:nvPr/>
        </p:nvSpPr>
        <p:spPr>
          <a:xfrm>
            <a:off x="7168896" y="2921507"/>
            <a:ext cx="914400" cy="411480"/>
          </a:xfrm>
          <a:prstGeom prst="rect">
            <a:avLst/>
          </a:prstGeom>
          <a:solidFill>
            <a:srgbClr val="E8F7F8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1" name="Text 28"/>
          <p:cNvSpPr/>
          <p:nvPr/>
        </p:nvSpPr>
        <p:spPr>
          <a:xfrm>
            <a:off x="7182112" y="2926080"/>
            <a:ext cx="914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014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Tester/QA</a:t>
            </a:r>
            <a:endParaRPr lang="en-US" sz="900" dirty="0"/>
          </a:p>
        </p:txBody>
      </p:sp>
      <p:sp>
        <p:nvSpPr>
          <p:cNvPr id="32" name="Text 29"/>
          <p:cNvSpPr/>
          <p:nvPr/>
        </p:nvSpPr>
        <p:spPr>
          <a:xfrm>
            <a:off x="4800600" y="3456432"/>
            <a:ext cx="38404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14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Team Development: Tuckman's 5 Stages</a:t>
            </a:r>
            <a:endParaRPr lang="en-US" sz="1000" dirty="0"/>
          </a:p>
        </p:txBody>
      </p:sp>
      <p:sp>
        <p:nvSpPr>
          <p:cNvPr id="33" name="Shape 30"/>
          <p:cNvSpPr/>
          <p:nvPr/>
        </p:nvSpPr>
        <p:spPr>
          <a:xfrm>
            <a:off x="4800600" y="3767328"/>
            <a:ext cx="713232" cy="502920"/>
          </a:xfrm>
          <a:prstGeom prst="rect">
            <a:avLst/>
          </a:prstGeom>
          <a:solidFill>
            <a:srgbClr val="E8F7F8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1"/>
          <p:cNvSpPr/>
          <p:nvPr/>
        </p:nvSpPr>
        <p:spPr>
          <a:xfrm>
            <a:off x="4800600" y="3767328"/>
            <a:ext cx="713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Forming</a:t>
            </a:r>
            <a:endParaRPr lang="en-US" sz="850" dirty="0"/>
          </a:p>
        </p:txBody>
      </p:sp>
      <p:sp>
        <p:nvSpPr>
          <p:cNvPr id="35" name="Shape 32"/>
          <p:cNvSpPr/>
          <p:nvPr/>
        </p:nvSpPr>
        <p:spPr>
          <a:xfrm>
            <a:off x="5577840" y="3767328"/>
            <a:ext cx="713232" cy="502920"/>
          </a:xfrm>
          <a:prstGeom prst="rect">
            <a:avLst/>
          </a:prstGeom>
          <a:solidFill>
            <a:srgbClr val="E8F7F8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3"/>
          <p:cNvSpPr/>
          <p:nvPr/>
        </p:nvSpPr>
        <p:spPr>
          <a:xfrm>
            <a:off x="5577840" y="3767328"/>
            <a:ext cx="713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Storming</a:t>
            </a:r>
            <a:endParaRPr lang="en-US" sz="850" dirty="0"/>
          </a:p>
        </p:txBody>
      </p:sp>
      <p:sp>
        <p:nvSpPr>
          <p:cNvPr id="37" name="Shape 34"/>
          <p:cNvSpPr/>
          <p:nvPr/>
        </p:nvSpPr>
        <p:spPr>
          <a:xfrm>
            <a:off x="6355080" y="3767328"/>
            <a:ext cx="713232" cy="502920"/>
          </a:xfrm>
          <a:prstGeom prst="rect">
            <a:avLst/>
          </a:prstGeom>
          <a:solidFill>
            <a:srgbClr val="E8F7F8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Text 35"/>
          <p:cNvSpPr/>
          <p:nvPr/>
        </p:nvSpPr>
        <p:spPr>
          <a:xfrm>
            <a:off x="6355080" y="3767328"/>
            <a:ext cx="713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Norming</a:t>
            </a:r>
            <a:endParaRPr lang="en-US" sz="850" dirty="0"/>
          </a:p>
        </p:txBody>
      </p:sp>
      <p:sp>
        <p:nvSpPr>
          <p:cNvPr id="39" name="Shape 36"/>
          <p:cNvSpPr/>
          <p:nvPr/>
        </p:nvSpPr>
        <p:spPr>
          <a:xfrm>
            <a:off x="7132320" y="3767328"/>
            <a:ext cx="713232" cy="50292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0" name="Text 37"/>
          <p:cNvSpPr/>
          <p:nvPr/>
        </p:nvSpPr>
        <p:spPr>
          <a:xfrm>
            <a:off x="7132320" y="3767328"/>
            <a:ext cx="713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Performing</a:t>
            </a:r>
            <a:endParaRPr lang="en-US" sz="850" dirty="0"/>
          </a:p>
        </p:txBody>
      </p:sp>
      <p:sp>
        <p:nvSpPr>
          <p:cNvPr id="41" name="Shape 38"/>
          <p:cNvSpPr/>
          <p:nvPr/>
        </p:nvSpPr>
        <p:spPr>
          <a:xfrm>
            <a:off x="7909560" y="3767328"/>
            <a:ext cx="713232" cy="502920"/>
          </a:xfrm>
          <a:prstGeom prst="rect">
            <a:avLst/>
          </a:prstGeom>
          <a:solidFill>
            <a:srgbClr val="E8F7F8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39"/>
          <p:cNvSpPr/>
          <p:nvPr/>
        </p:nvSpPr>
        <p:spPr>
          <a:xfrm>
            <a:off x="7909560" y="3767328"/>
            <a:ext cx="713232" cy="5029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Adjourning</a:t>
            </a:r>
            <a:endParaRPr lang="en-US" sz="850" dirty="0"/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14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Management Plan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 register, P×I matrix and top risks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0"/>
          </a:xfrm>
          <a:prstGeom prst="line">
            <a:avLst/>
          </a:prstGeom>
          <a:noFill/>
          <a:ln w="19050">
            <a:solidFill>
              <a:srgbClr val="E8F7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14F59"/>
          </a:solidFill>
          <a:ln w="12700">
            <a:solidFill>
              <a:srgbClr val="014F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Charity Organization Website  |  Jana Hassan &amp; Seif Ahmed  |  UNICEF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59410" y="1005840"/>
            <a:ext cx="3200400" cy="27432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7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11480" y="1042416"/>
            <a:ext cx="310896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PROBABILITY × IMPACT MATRIX</a:t>
            </a:r>
            <a:endParaRPr lang="en-US" sz="950" dirty="0"/>
          </a:p>
        </p:txBody>
      </p:sp>
      <p:sp>
        <p:nvSpPr>
          <p:cNvPr id="11" name="Shape 9"/>
          <p:cNvSpPr/>
          <p:nvPr/>
        </p:nvSpPr>
        <p:spPr>
          <a:xfrm>
            <a:off x="411480" y="1371600"/>
            <a:ext cx="768096" cy="640080"/>
          </a:xfrm>
          <a:prstGeom prst="rect">
            <a:avLst/>
          </a:prstGeom>
          <a:solidFill>
            <a:srgbClr val="E8F7F8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Text 10"/>
          <p:cNvSpPr/>
          <p:nvPr/>
        </p:nvSpPr>
        <p:spPr>
          <a:xfrm>
            <a:off x="411480" y="1371600"/>
            <a:ext cx="768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HIGH (3)</a:t>
            </a:r>
            <a:endParaRPr lang="en-US" sz="800" dirty="0"/>
          </a:p>
        </p:txBody>
      </p:sp>
      <p:sp>
        <p:nvSpPr>
          <p:cNvPr id="13" name="Shape 11"/>
          <p:cNvSpPr/>
          <p:nvPr/>
        </p:nvSpPr>
        <p:spPr>
          <a:xfrm>
            <a:off x="1179576" y="1371600"/>
            <a:ext cx="768096" cy="640080"/>
          </a:xfrm>
          <a:prstGeom prst="rect">
            <a:avLst/>
          </a:prstGeom>
          <a:solidFill>
            <a:srgbClr val="F5A623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1179576" y="1371600"/>
            <a:ext cx="768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1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MED</a:t>
            </a:r>
            <a:endParaRPr lang="en-US" sz="1000" dirty="0"/>
          </a:p>
        </p:txBody>
      </p:sp>
      <p:sp>
        <p:nvSpPr>
          <p:cNvPr id="15" name="Shape 13"/>
          <p:cNvSpPr/>
          <p:nvPr/>
        </p:nvSpPr>
        <p:spPr>
          <a:xfrm>
            <a:off x="1947672" y="1371600"/>
            <a:ext cx="768096" cy="640080"/>
          </a:xfrm>
          <a:prstGeom prst="rect">
            <a:avLst/>
          </a:prstGeom>
          <a:solidFill>
            <a:srgbClr val="E05C5C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1947672" y="1371600"/>
            <a:ext cx="768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1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HIGH</a:t>
            </a:r>
            <a:endParaRPr lang="en-US" sz="1000" dirty="0"/>
          </a:p>
        </p:txBody>
      </p:sp>
      <p:sp>
        <p:nvSpPr>
          <p:cNvPr id="17" name="Shape 15"/>
          <p:cNvSpPr/>
          <p:nvPr/>
        </p:nvSpPr>
        <p:spPr>
          <a:xfrm>
            <a:off x="2715768" y="1371600"/>
            <a:ext cx="768096" cy="640080"/>
          </a:xfrm>
          <a:prstGeom prst="rect">
            <a:avLst/>
          </a:prstGeom>
          <a:solidFill>
            <a:srgbClr val="E05C5C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2715768" y="1371600"/>
            <a:ext cx="768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1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9 HIGH</a:t>
            </a:r>
            <a:endParaRPr lang="en-US" sz="1000" dirty="0"/>
          </a:p>
        </p:txBody>
      </p:sp>
      <p:sp>
        <p:nvSpPr>
          <p:cNvPr id="19" name="Shape 17"/>
          <p:cNvSpPr/>
          <p:nvPr/>
        </p:nvSpPr>
        <p:spPr>
          <a:xfrm>
            <a:off x="411480" y="2011680"/>
            <a:ext cx="768096" cy="640080"/>
          </a:xfrm>
          <a:prstGeom prst="rect">
            <a:avLst/>
          </a:prstGeom>
          <a:solidFill>
            <a:srgbClr val="E8F7F8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Text 18"/>
          <p:cNvSpPr/>
          <p:nvPr/>
        </p:nvSpPr>
        <p:spPr>
          <a:xfrm>
            <a:off x="411480" y="2011680"/>
            <a:ext cx="768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MED (2)</a:t>
            </a:r>
            <a:endParaRPr lang="en-US" sz="800" dirty="0"/>
          </a:p>
        </p:txBody>
      </p:sp>
      <p:sp>
        <p:nvSpPr>
          <p:cNvPr id="21" name="Shape 19"/>
          <p:cNvSpPr/>
          <p:nvPr/>
        </p:nvSpPr>
        <p:spPr>
          <a:xfrm>
            <a:off x="1179576" y="2011680"/>
            <a:ext cx="768096" cy="640080"/>
          </a:xfrm>
          <a:prstGeom prst="rect">
            <a:avLst/>
          </a:prstGeom>
          <a:solidFill>
            <a:srgbClr val="A8D5B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1179576" y="2011680"/>
            <a:ext cx="768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1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LOW</a:t>
            </a:r>
            <a:endParaRPr lang="en-US" sz="1000" dirty="0"/>
          </a:p>
        </p:txBody>
      </p:sp>
      <p:sp>
        <p:nvSpPr>
          <p:cNvPr id="23" name="Shape 21"/>
          <p:cNvSpPr/>
          <p:nvPr/>
        </p:nvSpPr>
        <p:spPr>
          <a:xfrm>
            <a:off x="1947672" y="2011680"/>
            <a:ext cx="768096" cy="640080"/>
          </a:xfrm>
          <a:prstGeom prst="rect">
            <a:avLst/>
          </a:prstGeom>
          <a:solidFill>
            <a:srgbClr val="F5A623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1947672" y="2011680"/>
            <a:ext cx="768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1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4 MED</a:t>
            </a:r>
            <a:endParaRPr lang="en-US" sz="1000" dirty="0"/>
          </a:p>
        </p:txBody>
      </p:sp>
      <p:sp>
        <p:nvSpPr>
          <p:cNvPr id="25" name="Shape 23"/>
          <p:cNvSpPr/>
          <p:nvPr/>
        </p:nvSpPr>
        <p:spPr>
          <a:xfrm>
            <a:off x="2715768" y="2011680"/>
            <a:ext cx="768096" cy="640080"/>
          </a:xfrm>
          <a:prstGeom prst="rect">
            <a:avLst/>
          </a:prstGeom>
          <a:solidFill>
            <a:srgbClr val="E05C5C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2715768" y="2011680"/>
            <a:ext cx="768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1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HIGH</a:t>
            </a:r>
            <a:endParaRPr lang="en-US" sz="1000" dirty="0"/>
          </a:p>
        </p:txBody>
      </p:sp>
      <p:sp>
        <p:nvSpPr>
          <p:cNvPr id="27" name="Shape 25"/>
          <p:cNvSpPr/>
          <p:nvPr/>
        </p:nvSpPr>
        <p:spPr>
          <a:xfrm>
            <a:off x="411480" y="2651760"/>
            <a:ext cx="768096" cy="640080"/>
          </a:xfrm>
          <a:prstGeom prst="rect">
            <a:avLst/>
          </a:prstGeom>
          <a:solidFill>
            <a:srgbClr val="E8F7F8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411480" y="2651760"/>
            <a:ext cx="768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LOW (1)</a:t>
            </a:r>
            <a:endParaRPr lang="en-US" sz="800" dirty="0"/>
          </a:p>
        </p:txBody>
      </p:sp>
      <p:sp>
        <p:nvSpPr>
          <p:cNvPr id="29" name="Shape 27"/>
          <p:cNvSpPr/>
          <p:nvPr/>
        </p:nvSpPr>
        <p:spPr>
          <a:xfrm>
            <a:off x="1179576" y="2651760"/>
            <a:ext cx="768096" cy="640080"/>
          </a:xfrm>
          <a:prstGeom prst="rect">
            <a:avLst/>
          </a:prstGeom>
          <a:solidFill>
            <a:srgbClr val="A8D5B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179576" y="2651760"/>
            <a:ext cx="768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1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 LOW</a:t>
            </a:r>
            <a:endParaRPr lang="en-US" sz="1000" dirty="0"/>
          </a:p>
        </p:txBody>
      </p:sp>
      <p:sp>
        <p:nvSpPr>
          <p:cNvPr id="31" name="Shape 29"/>
          <p:cNvSpPr/>
          <p:nvPr/>
        </p:nvSpPr>
        <p:spPr>
          <a:xfrm>
            <a:off x="1947672" y="2651760"/>
            <a:ext cx="768096" cy="640080"/>
          </a:xfrm>
          <a:prstGeom prst="rect">
            <a:avLst/>
          </a:prstGeom>
          <a:solidFill>
            <a:srgbClr val="A8D5B5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Text 30"/>
          <p:cNvSpPr/>
          <p:nvPr/>
        </p:nvSpPr>
        <p:spPr>
          <a:xfrm>
            <a:off x="1947672" y="2651760"/>
            <a:ext cx="768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1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 LOW</a:t>
            </a:r>
            <a:endParaRPr lang="en-US" sz="1000" dirty="0"/>
          </a:p>
        </p:txBody>
      </p:sp>
      <p:sp>
        <p:nvSpPr>
          <p:cNvPr id="33" name="Shape 31"/>
          <p:cNvSpPr/>
          <p:nvPr/>
        </p:nvSpPr>
        <p:spPr>
          <a:xfrm>
            <a:off x="2715768" y="2651760"/>
            <a:ext cx="768096" cy="640080"/>
          </a:xfrm>
          <a:prstGeom prst="rect">
            <a:avLst/>
          </a:prstGeom>
          <a:solidFill>
            <a:srgbClr val="F5A623"/>
          </a:solidFill>
          <a:ln w="6350">
            <a:solidFill>
              <a:srgbClr val="CCCCCC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2715768" y="2651760"/>
            <a:ext cx="768096" cy="6400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012A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3 MED</a:t>
            </a:r>
            <a:endParaRPr lang="en-US" sz="1000" dirty="0"/>
          </a:p>
        </p:txBody>
      </p:sp>
      <p:sp>
        <p:nvSpPr>
          <p:cNvPr id="35" name="Text 33"/>
          <p:cNvSpPr/>
          <p:nvPr/>
        </p:nvSpPr>
        <p:spPr>
          <a:xfrm rot="16200000">
            <a:off x="-145415" y="2094865"/>
            <a:ext cx="83947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80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↑ Probability</a:t>
            </a:r>
            <a:endParaRPr lang="en-US" sz="800" dirty="0"/>
          </a:p>
        </p:txBody>
      </p:sp>
      <p:sp>
        <p:nvSpPr>
          <p:cNvPr id="36" name="Text 34"/>
          <p:cNvSpPr/>
          <p:nvPr/>
        </p:nvSpPr>
        <p:spPr>
          <a:xfrm>
            <a:off x="1188720" y="3822192"/>
            <a:ext cx="192024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Impact →</a:t>
            </a:r>
            <a:endParaRPr lang="en-US" sz="800" dirty="0"/>
          </a:p>
        </p:txBody>
      </p:sp>
      <p:graphicFrame>
        <p:nvGraphicFramePr>
          <p:cNvPr id="3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749040" y="1005840"/>
          <a:ext cx="4846320" cy="2743200"/>
        </p:xfrm>
        <a:graphic>
          <a:graphicData uri="http://schemas.openxmlformats.org/drawingml/2006/table">
            <a:tbl>
              <a:tblPr/>
              <a:tblGrid>
                <a:gridCol w="4572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0312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64008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64592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ID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Score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Strategy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 Creep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05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Key Member Unavailability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E05C5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Schedule Delay – Dev Phase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Budget Overrun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Poor Quality / High Defects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R06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UNICEF Feedback Delays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Mitigate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2900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Tool Unavailability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DB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Accept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  <p:sp>
        <p:nvSpPr>
          <p:cNvPr id="38" name="Shape 35"/>
          <p:cNvSpPr/>
          <p:nvPr/>
        </p:nvSpPr>
        <p:spPr>
          <a:xfrm>
            <a:off x="365760" y="3867912"/>
            <a:ext cx="8412480" cy="5943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7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9" name="Text 36"/>
          <p:cNvSpPr/>
          <p:nvPr/>
        </p:nvSpPr>
        <p:spPr>
          <a:xfrm>
            <a:off x="502920" y="3913632"/>
            <a:ext cx="128016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3DBE7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OPPORTUNITIES:</a:t>
            </a:r>
            <a:endParaRPr lang="en-US" sz="1000" dirty="0"/>
          </a:p>
        </p:txBody>
      </p:sp>
      <p:sp>
        <p:nvSpPr>
          <p:cNvPr id="40" name="Text 37"/>
          <p:cNvSpPr/>
          <p:nvPr/>
        </p:nvSpPr>
        <p:spPr>
          <a:xfrm>
            <a:off x="1828800" y="3913632"/>
            <a:ext cx="6858000" cy="47548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O1: Early Development Completion → More testing time  |  O2: UNICEF Replication Opportunity  |  O3: Team Skill Development</a:t>
            </a:r>
            <a:endParaRPr lang="en-US" sz="1000" dirty="0"/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14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Communication Management Plan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channels, 3 communication methods, structured reporting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0"/>
          </a:xfrm>
          <a:prstGeom prst="line">
            <a:avLst/>
          </a:prstGeom>
          <a:noFill/>
          <a:ln w="19050">
            <a:solidFill>
              <a:srgbClr val="E8F7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14F59"/>
          </a:solidFill>
          <a:ln w="12700">
            <a:solidFill>
              <a:srgbClr val="014F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Charity Organization Website  |  Jana Hassan &amp; Seif Ahmed  |  UNICEF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005840"/>
            <a:ext cx="274320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7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65760" y="1051560"/>
            <a:ext cx="2743200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22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n(n−1) ÷ 2</a:t>
            </a:r>
            <a:endParaRPr lang="en-US" sz="2200" dirty="0"/>
          </a:p>
        </p:txBody>
      </p:sp>
      <p:sp>
        <p:nvSpPr>
          <p:cNvPr id="11" name="Text 9"/>
          <p:cNvSpPr/>
          <p:nvPr/>
        </p:nvSpPr>
        <p:spPr>
          <a:xfrm>
            <a:off x="365760" y="1581912"/>
            <a:ext cx="274320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stakeholders = 15 channels</a:t>
            </a:r>
            <a:endParaRPr lang="en-US" sz="1000" dirty="0"/>
          </a:p>
        </p:txBody>
      </p:sp>
      <p:sp>
        <p:nvSpPr>
          <p:cNvPr id="12" name="Shape 10"/>
          <p:cNvSpPr/>
          <p:nvPr/>
        </p:nvSpPr>
        <p:spPr>
          <a:xfrm>
            <a:off x="3291840" y="1005840"/>
            <a:ext cx="1783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7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3429000" y="1051560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429000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↔</a:t>
            </a:r>
            <a:endParaRPr lang="en-US" sz="1400" dirty="0"/>
          </a:p>
        </p:txBody>
      </p:sp>
      <p:sp>
        <p:nvSpPr>
          <p:cNvPr id="15" name="Text 13"/>
          <p:cNvSpPr/>
          <p:nvPr/>
        </p:nvSpPr>
        <p:spPr>
          <a:xfrm>
            <a:off x="3931920" y="107899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14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Interactive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337560" y="138988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Weekly meetings, milestone reviews, video calls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5212080" y="1005840"/>
            <a:ext cx="1783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7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5349240" y="1051560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5349240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→</a:t>
            </a:r>
            <a:endParaRPr lang="en-US" sz="1400" dirty="0"/>
          </a:p>
        </p:txBody>
      </p:sp>
      <p:sp>
        <p:nvSpPr>
          <p:cNvPr id="20" name="Text 18"/>
          <p:cNvSpPr/>
          <p:nvPr/>
        </p:nvSpPr>
        <p:spPr>
          <a:xfrm>
            <a:off x="5852160" y="107899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14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Push</a:t>
            </a:r>
            <a:endParaRPr lang="en-US" sz="1000" dirty="0"/>
          </a:p>
        </p:txBody>
      </p:sp>
      <p:sp>
        <p:nvSpPr>
          <p:cNvPr id="21" name="Text 19"/>
          <p:cNvSpPr/>
          <p:nvPr/>
        </p:nvSpPr>
        <p:spPr>
          <a:xfrm>
            <a:off x="5257800" y="138988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Status reports, meeting minutes, risk register</a:t>
            </a:r>
            <a:endParaRPr lang="en-US" sz="900" dirty="0"/>
          </a:p>
        </p:txBody>
      </p:sp>
      <p:sp>
        <p:nvSpPr>
          <p:cNvPr id="22" name="Shape 20"/>
          <p:cNvSpPr/>
          <p:nvPr/>
        </p:nvSpPr>
        <p:spPr>
          <a:xfrm>
            <a:off x="7132320" y="1005840"/>
            <a:ext cx="1783080" cy="100584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7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7269480" y="1051560"/>
            <a:ext cx="411480" cy="411480"/>
          </a:xfrm>
          <a:prstGeom prst="ellipse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7269480" y="1051560"/>
            <a:ext cx="41148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4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↓</a:t>
            </a:r>
            <a:endParaRPr lang="en-US" sz="1400" dirty="0"/>
          </a:p>
        </p:txBody>
      </p:sp>
      <p:sp>
        <p:nvSpPr>
          <p:cNvPr id="25" name="Text 23"/>
          <p:cNvSpPr/>
          <p:nvPr/>
        </p:nvSpPr>
        <p:spPr>
          <a:xfrm>
            <a:off x="7772400" y="1078992"/>
            <a:ext cx="114300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14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Pull</a:t>
            </a:r>
            <a:endParaRPr lang="en-US" sz="1000" dirty="0"/>
          </a:p>
        </p:txBody>
      </p:sp>
      <p:sp>
        <p:nvSpPr>
          <p:cNvPr id="26" name="Text 24"/>
          <p:cNvSpPr/>
          <p:nvPr/>
        </p:nvSpPr>
        <p:spPr>
          <a:xfrm>
            <a:off x="7178040" y="1389888"/>
            <a:ext cx="1691640" cy="5486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Jira board, document folder, WBS artifacts</a:t>
            </a:r>
            <a:endParaRPr lang="en-US" sz="900" dirty="0"/>
          </a:p>
        </p:txBody>
      </p:sp>
      <p:graphicFrame>
        <p:nvGraphicFramePr>
          <p:cNvPr id="2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79011935"/>
              </p:ext>
            </p:extLst>
          </p:nvPr>
        </p:nvGraphicFramePr>
        <p:xfrm>
          <a:off x="365760" y="2148840"/>
          <a:ext cx="8412480" cy="2240280"/>
        </p:xfrm>
        <a:graphic>
          <a:graphicData uri="http://schemas.openxmlformats.org/drawingml/2006/table">
            <a:tbl>
              <a:tblPr/>
              <a:tblGrid>
                <a:gridCol w="320040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9456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301752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2800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Communication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Frequency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Audience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 Status Report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Every Thursday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+ UNICEF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Monthly Sponsor Report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1st of each month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UNICEF only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EVM Cost Report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Bi-weekly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UNICEF + PMs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Milestone Completion Report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At each milestone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UNICEF + Team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Risk Register Update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Weekly (Thursday)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Team + UNICEF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Change Request Notification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As needed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UNICEF (approval)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280035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Final Project Report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21 June 2026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5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All stakeholders</a:t>
                      </a:r>
                      <a:endParaRPr lang="en-US" sz="105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14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 Traceability Matrix (RTM)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Ensuring all requirements are implemented and tested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0"/>
          </a:xfrm>
          <a:prstGeom prst="line">
            <a:avLst/>
          </a:prstGeom>
          <a:noFill/>
          <a:ln w="19050">
            <a:solidFill>
              <a:srgbClr val="E8F7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14F59"/>
          </a:solidFill>
          <a:ln w="12700">
            <a:solidFill>
              <a:srgbClr val="014F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Charity Organization Website  |  Jana Hassan &amp; Seif Ahmed  |  UNICEF</a:t>
            </a:r>
            <a:endParaRPr lang="en-US" sz="900" dirty="0"/>
          </a:p>
        </p:txBody>
      </p:sp>
      <p:graphicFrame>
        <p:nvGraphicFramePr>
          <p:cNvPr id="11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3396068011"/>
              </p:ext>
            </p:extLst>
          </p:nvPr>
        </p:nvGraphicFramePr>
        <p:xfrm>
          <a:off x="162560" y="868680"/>
          <a:ext cx="8778240" cy="2114756"/>
        </p:xfrm>
        <a:graphic>
          <a:graphicData uri="http://schemas.openxmlformats.org/drawingml/2006/table">
            <a:tbl>
              <a:tblPr/>
              <a:tblGrid>
                <a:gridCol w="51574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2847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6423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14712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5506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021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 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021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Website Navigation Pages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Charter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DB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Done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021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R2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Online Donation Form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UNICEF Requirements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DB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Done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021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R3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Volunteer Sign-Up Form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Stakeholder Interviews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DB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Done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021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R4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Events Calendar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Stakeholder Interviews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DB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Done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021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R7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Content Management System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Stakeholder Interviews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DB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Done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7"/>
                  </a:ext>
                </a:extLst>
              </a:tr>
              <a:tr h="302108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R8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Simulated Payment Gateway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Functional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Charter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DB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Done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8"/>
                  </a:ext>
                </a:extLst>
              </a:tr>
            </a:tbl>
          </a:graphicData>
        </a:graphic>
      </p:graphicFrame>
      <p:graphicFrame>
        <p:nvGraphicFramePr>
          <p:cNvPr id="9" name="Table 0">
            <a:extLst>
              <a:ext uri="{FF2B5EF4-FFF2-40B4-BE49-F238E27FC236}">
                <a16:creationId xmlns:a16="http://schemas.microsoft.com/office/drawing/2014/main" id="{70D82CC8-2320-CDD8-3028-3C918F61AA19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891856348"/>
              </p:ext>
            </p:extLst>
          </p:nvPr>
        </p:nvGraphicFramePr>
        <p:xfrm>
          <a:off x="162560" y="3111452"/>
          <a:ext cx="8778240" cy="1701845"/>
        </p:xfrm>
        <a:graphic>
          <a:graphicData uri="http://schemas.openxmlformats.org/drawingml/2006/table">
            <a:tbl>
              <a:tblPr/>
              <a:tblGrid>
                <a:gridCol w="473079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943602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4718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2628217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61542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3403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#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Requirement Name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Category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Source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Status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403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R5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Responsive UI/UX Design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Scope Statement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DB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Done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3403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R6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User Authentication &amp; Profile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Security Requirements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DB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Done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  <a:tr h="3403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R9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Page Load Performance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Performance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Scope / Standards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DB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Done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9"/>
                  </a:ext>
                </a:extLst>
              </a:tr>
              <a:tr h="340369"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R10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Sponsor Acceptance (UNICEF)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Management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Charter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>
                        <a:buNone/>
                      </a:pPr>
                      <a:r>
                        <a:rPr lang="en-US" sz="1000" b="1" dirty="0">
                          <a:solidFill>
                            <a:srgbClr val="3DBE7C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✔ Done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10"/>
                  </a:ext>
                </a:extLst>
              </a:tr>
            </a:tbl>
          </a:graphicData>
        </a:graphic>
      </p:graphicFrame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14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Work Breakdown Structure (WBS)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phases, 21 work packages — full project decomposition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0"/>
          </a:xfrm>
          <a:prstGeom prst="line">
            <a:avLst/>
          </a:prstGeom>
          <a:noFill/>
          <a:ln w="19050">
            <a:solidFill>
              <a:srgbClr val="E8F7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14F59"/>
          </a:solidFill>
          <a:ln w="12700">
            <a:solidFill>
              <a:srgbClr val="014F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Charity Organization Website  |  Jana Hassan &amp; Seif Ahmed  |  UNICEF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0" y="960120"/>
            <a:ext cx="2743200" cy="438912"/>
          </a:xfrm>
          <a:prstGeom prst="rect">
            <a:avLst/>
          </a:prstGeom>
          <a:solidFill>
            <a:srgbClr val="014F59"/>
          </a:solidFill>
          <a:ln w="12700">
            <a:solidFill>
              <a:srgbClr val="014F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0" y="960120"/>
            <a:ext cx="2743200" cy="43891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1.0  Charity Organization Website</a:t>
            </a:r>
            <a:endParaRPr lang="en-US" sz="1000" dirty="0"/>
          </a:p>
        </p:txBody>
      </p:sp>
      <p:sp>
        <p:nvSpPr>
          <p:cNvPr id="11" name="Shape 9"/>
          <p:cNvSpPr/>
          <p:nvPr/>
        </p:nvSpPr>
        <p:spPr>
          <a:xfrm>
            <a:off x="4572000" y="1399032"/>
            <a:ext cx="0" cy="274320"/>
          </a:xfrm>
          <a:prstGeom prst="line">
            <a:avLst/>
          </a:prstGeom>
          <a:noFill/>
          <a:ln w="12700">
            <a:solidFill>
              <a:srgbClr val="3D6B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831273" y="1673352"/>
            <a:ext cx="7143008" cy="0"/>
          </a:xfrm>
          <a:prstGeom prst="line">
            <a:avLst/>
          </a:prstGeom>
          <a:noFill/>
          <a:ln w="12700">
            <a:solidFill>
              <a:srgbClr val="3D6B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3" name="Shape 11"/>
          <p:cNvSpPr/>
          <p:nvPr/>
        </p:nvSpPr>
        <p:spPr>
          <a:xfrm>
            <a:off x="941832" y="1673352"/>
            <a:ext cx="0" cy="228600"/>
          </a:xfrm>
          <a:prstGeom prst="line">
            <a:avLst/>
          </a:prstGeom>
          <a:noFill/>
          <a:ln w="12700">
            <a:solidFill>
              <a:srgbClr val="3D6B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4" name="Shape 12"/>
          <p:cNvSpPr/>
          <p:nvPr/>
        </p:nvSpPr>
        <p:spPr>
          <a:xfrm>
            <a:off x="411480" y="1901952"/>
            <a:ext cx="118872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5" name="Text 13"/>
          <p:cNvSpPr/>
          <p:nvPr/>
        </p:nvSpPr>
        <p:spPr>
          <a:xfrm>
            <a:off x="411480" y="190195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1.1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Management</a:t>
            </a:r>
            <a:endParaRPr lang="en-US" sz="850" dirty="0"/>
          </a:p>
        </p:txBody>
      </p:sp>
      <p:sp>
        <p:nvSpPr>
          <p:cNvPr id="16" name="Shape 14"/>
          <p:cNvSpPr/>
          <p:nvPr/>
        </p:nvSpPr>
        <p:spPr>
          <a:xfrm>
            <a:off x="941832" y="2359152"/>
            <a:ext cx="0" cy="182880"/>
          </a:xfrm>
          <a:prstGeom prst="line">
            <a:avLst/>
          </a:prstGeom>
          <a:noFill/>
          <a:ln w="10160">
            <a:solidFill>
              <a:srgbClr val="3D6B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7" name="Shape 15"/>
          <p:cNvSpPr/>
          <p:nvPr/>
        </p:nvSpPr>
        <p:spPr>
          <a:xfrm>
            <a:off x="411480" y="2542032"/>
            <a:ext cx="1188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457200" y="2542032"/>
            <a:ext cx="1115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Planning &amp; Scoping</a:t>
            </a:r>
            <a:endParaRPr lang="en-US" sz="800" dirty="0"/>
          </a:p>
        </p:txBody>
      </p:sp>
      <p:sp>
        <p:nvSpPr>
          <p:cNvPr id="19" name="Shape 17"/>
          <p:cNvSpPr/>
          <p:nvPr/>
        </p:nvSpPr>
        <p:spPr>
          <a:xfrm>
            <a:off x="941832" y="3072384"/>
            <a:ext cx="0" cy="64008"/>
          </a:xfrm>
          <a:prstGeom prst="line">
            <a:avLst/>
          </a:prstGeom>
          <a:noFill/>
          <a:ln w="10160">
            <a:solidFill>
              <a:srgbClr val="3D6B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0" name="Shape 18"/>
          <p:cNvSpPr/>
          <p:nvPr/>
        </p:nvSpPr>
        <p:spPr>
          <a:xfrm>
            <a:off x="411480" y="3136392"/>
            <a:ext cx="1188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1" name="Text 19"/>
          <p:cNvSpPr/>
          <p:nvPr/>
        </p:nvSpPr>
        <p:spPr>
          <a:xfrm>
            <a:off x="457200" y="3136392"/>
            <a:ext cx="1115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Resource Management</a:t>
            </a:r>
            <a:endParaRPr lang="en-US" sz="800" dirty="0"/>
          </a:p>
        </p:txBody>
      </p:sp>
      <p:sp>
        <p:nvSpPr>
          <p:cNvPr id="22" name="Shape 20"/>
          <p:cNvSpPr/>
          <p:nvPr/>
        </p:nvSpPr>
        <p:spPr>
          <a:xfrm>
            <a:off x="941832" y="3666744"/>
            <a:ext cx="0" cy="64008"/>
          </a:xfrm>
          <a:prstGeom prst="line">
            <a:avLst/>
          </a:prstGeom>
          <a:noFill/>
          <a:ln w="10160">
            <a:solidFill>
              <a:srgbClr val="3D6B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3" name="Shape 21"/>
          <p:cNvSpPr/>
          <p:nvPr/>
        </p:nvSpPr>
        <p:spPr>
          <a:xfrm>
            <a:off x="411480" y="3730752"/>
            <a:ext cx="1188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4" name="Text 22"/>
          <p:cNvSpPr/>
          <p:nvPr/>
        </p:nvSpPr>
        <p:spPr>
          <a:xfrm>
            <a:off x="457200" y="3730752"/>
            <a:ext cx="1115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Tracking &amp; Reporting</a:t>
            </a:r>
            <a:endParaRPr lang="en-US" sz="800" dirty="0"/>
          </a:p>
        </p:txBody>
      </p:sp>
      <p:sp>
        <p:nvSpPr>
          <p:cNvPr id="25" name="Shape 23"/>
          <p:cNvSpPr/>
          <p:nvPr/>
        </p:nvSpPr>
        <p:spPr>
          <a:xfrm>
            <a:off x="2331720" y="1673352"/>
            <a:ext cx="0" cy="228600"/>
          </a:xfrm>
          <a:prstGeom prst="line">
            <a:avLst/>
          </a:prstGeom>
          <a:noFill/>
          <a:ln w="12700">
            <a:solidFill>
              <a:srgbClr val="3D6B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6" name="Shape 24"/>
          <p:cNvSpPr/>
          <p:nvPr/>
        </p:nvSpPr>
        <p:spPr>
          <a:xfrm>
            <a:off x="1801368" y="1901952"/>
            <a:ext cx="1188720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7" name="Text 25"/>
          <p:cNvSpPr/>
          <p:nvPr/>
        </p:nvSpPr>
        <p:spPr>
          <a:xfrm>
            <a:off x="1801368" y="190195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1.2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Design</a:t>
            </a:r>
            <a:endParaRPr lang="en-US" sz="850" dirty="0"/>
          </a:p>
        </p:txBody>
      </p:sp>
      <p:sp>
        <p:nvSpPr>
          <p:cNvPr id="28" name="Shape 26"/>
          <p:cNvSpPr/>
          <p:nvPr/>
        </p:nvSpPr>
        <p:spPr>
          <a:xfrm>
            <a:off x="2331720" y="2359152"/>
            <a:ext cx="0" cy="182880"/>
          </a:xfrm>
          <a:prstGeom prst="line">
            <a:avLst/>
          </a:prstGeom>
          <a:noFill/>
          <a:ln w="10160">
            <a:solidFill>
              <a:srgbClr val="3D6B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29" name="Shape 27"/>
          <p:cNvSpPr/>
          <p:nvPr/>
        </p:nvSpPr>
        <p:spPr>
          <a:xfrm>
            <a:off x="1801368" y="2542032"/>
            <a:ext cx="1188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1847088" y="2542032"/>
            <a:ext cx="1115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Stakeholder Workshops &amp; requirement gathering</a:t>
            </a:r>
            <a:endParaRPr lang="en-US" sz="800" dirty="0"/>
          </a:p>
        </p:txBody>
      </p:sp>
      <p:sp>
        <p:nvSpPr>
          <p:cNvPr id="31" name="Shape 29"/>
          <p:cNvSpPr/>
          <p:nvPr/>
        </p:nvSpPr>
        <p:spPr>
          <a:xfrm>
            <a:off x="2331720" y="3072384"/>
            <a:ext cx="0" cy="64008"/>
          </a:xfrm>
          <a:prstGeom prst="line">
            <a:avLst/>
          </a:prstGeom>
          <a:noFill/>
          <a:ln w="10160">
            <a:solidFill>
              <a:srgbClr val="3D6B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2" name="Shape 30"/>
          <p:cNvSpPr/>
          <p:nvPr/>
        </p:nvSpPr>
        <p:spPr>
          <a:xfrm>
            <a:off x="1801368" y="3136392"/>
            <a:ext cx="1188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3" name="Text 31"/>
          <p:cNvSpPr/>
          <p:nvPr/>
        </p:nvSpPr>
        <p:spPr>
          <a:xfrm>
            <a:off x="1847088" y="3136392"/>
            <a:ext cx="1115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Architecture &amp; DB</a:t>
            </a:r>
            <a:endParaRPr lang="en-US" sz="800" dirty="0"/>
          </a:p>
        </p:txBody>
      </p:sp>
      <p:sp>
        <p:nvSpPr>
          <p:cNvPr id="34" name="Shape 32"/>
          <p:cNvSpPr/>
          <p:nvPr/>
        </p:nvSpPr>
        <p:spPr>
          <a:xfrm>
            <a:off x="2331720" y="3666744"/>
            <a:ext cx="0" cy="64008"/>
          </a:xfrm>
          <a:prstGeom prst="line">
            <a:avLst/>
          </a:prstGeom>
          <a:noFill/>
          <a:ln w="10160">
            <a:solidFill>
              <a:srgbClr val="3D6B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5" name="Shape 33"/>
          <p:cNvSpPr/>
          <p:nvPr/>
        </p:nvSpPr>
        <p:spPr>
          <a:xfrm>
            <a:off x="1801368" y="3730752"/>
            <a:ext cx="1188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6" name="Text 34"/>
          <p:cNvSpPr/>
          <p:nvPr/>
        </p:nvSpPr>
        <p:spPr>
          <a:xfrm>
            <a:off x="1847088" y="3730752"/>
            <a:ext cx="1115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 Prototyping</a:t>
            </a:r>
            <a:endParaRPr lang="en-US" sz="800" dirty="0"/>
          </a:p>
        </p:txBody>
      </p:sp>
      <p:sp>
        <p:nvSpPr>
          <p:cNvPr id="37" name="Shape 35"/>
          <p:cNvSpPr/>
          <p:nvPr/>
        </p:nvSpPr>
        <p:spPr>
          <a:xfrm>
            <a:off x="3721608" y="1673352"/>
            <a:ext cx="0" cy="228600"/>
          </a:xfrm>
          <a:prstGeom prst="line">
            <a:avLst/>
          </a:prstGeom>
          <a:noFill/>
          <a:ln w="12700">
            <a:solidFill>
              <a:srgbClr val="3D6B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8" name="Shape 36"/>
          <p:cNvSpPr/>
          <p:nvPr/>
        </p:nvSpPr>
        <p:spPr>
          <a:xfrm>
            <a:off x="3191256" y="1901952"/>
            <a:ext cx="1188720" cy="457200"/>
          </a:xfrm>
          <a:prstGeom prst="rect">
            <a:avLst/>
          </a:prstGeom>
          <a:solidFill>
            <a:srgbClr val="014F59"/>
          </a:solidFill>
          <a:ln w="12700">
            <a:solidFill>
              <a:srgbClr val="014F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9" name="Text 37"/>
          <p:cNvSpPr/>
          <p:nvPr/>
        </p:nvSpPr>
        <p:spPr>
          <a:xfrm>
            <a:off x="3191256" y="190195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1.3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Platform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Development</a:t>
            </a:r>
            <a:endParaRPr lang="en-US" sz="850" dirty="0"/>
          </a:p>
        </p:txBody>
      </p:sp>
      <p:sp>
        <p:nvSpPr>
          <p:cNvPr id="40" name="Shape 38"/>
          <p:cNvSpPr/>
          <p:nvPr/>
        </p:nvSpPr>
        <p:spPr>
          <a:xfrm>
            <a:off x="3721608" y="2359152"/>
            <a:ext cx="0" cy="182880"/>
          </a:xfrm>
          <a:prstGeom prst="line">
            <a:avLst/>
          </a:prstGeom>
          <a:noFill/>
          <a:ln w="10160">
            <a:solidFill>
              <a:srgbClr val="3D6B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1" name="Shape 39"/>
          <p:cNvSpPr/>
          <p:nvPr/>
        </p:nvSpPr>
        <p:spPr>
          <a:xfrm>
            <a:off x="3191256" y="2542032"/>
            <a:ext cx="1188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014F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3236976" y="2542032"/>
            <a:ext cx="1115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Core Infrastructure</a:t>
            </a:r>
            <a:endParaRPr lang="en-US" sz="800" dirty="0"/>
          </a:p>
        </p:txBody>
      </p:sp>
      <p:sp>
        <p:nvSpPr>
          <p:cNvPr id="43" name="Shape 41"/>
          <p:cNvSpPr/>
          <p:nvPr/>
        </p:nvSpPr>
        <p:spPr>
          <a:xfrm>
            <a:off x="3721608" y="3072384"/>
            <a:ext cx="0" cy="64008"/>
          </a:xfrm>
          <a:prstGeom prst="line">
            <a:avLst/>
          </a:prstGeom>
          <a:noFill/>
          <a:ln w="10160">
            <a:solidFill>
              <a:srgbClr val="3D6B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4" name="Shape 42"/>
          <p:cNvSpPr/>
          <p:nvPr/>
        </p:nvSpPr>
        <p:spPr>
          <a:xfrm>
            <a:off x="3191256" y="3136392"/>
            <a:ext cx="1188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014F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5" name="Text 43"/>
          <p:cNvSpPr/>
          <p:nvPr/>
        </p:nvSpPr>
        <p:spPr>
          <a:xfrm>
            <a:off x="3236976" y="3136392"/>
            <a:ext cx="1115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Auth</a:t>
            </a:r>
            <a:endParaRPr lang="en-US" sz="800" dirty="0"/>
          </a:p>
        </p:txBody>
      </p:sp>
      <p:sp>
        <p:nvSpPr>
          <p:cNvPr id="46" name="Shape 44"/>
          <p:cNvSpPr/>
          <p:nvPr/>
        </p:nvSpPr>
        <p:spPr>
          <a:xfrm>
            <a:off x="3721608" y="3666744"/>
            <a:ext cx="0" cy="64008"/>
          </a:xfrm>
          <a:prstGeom prst="line">
            <a:avLst/>
          </a:prstGeom>
          <a:noFill/>
          <a:ln w="10160">
            <a:solidFill>
              <a:srgbClr val="3D6B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7" name="Shape 45"/>
          <p:cNvSpPr/>
          <p:nvPr/>
        </p:nvSpPr>
        <p:spPr>
          <a:xfrm>
            <a:off x="3191256" y="3730752"/>
            <a:ext cx="1188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014F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48" name="Text 46"/>
          <p:cNvSpPr/>
          <p:nvPr/>
        </p:nvSpPr>
        <p:spPr>
          <a:xfrm>
            <a:off x="3236976" y="3730752"/>
            <a:ext cx="1115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Dashboards</a:t>
            </a:r>
            <a:endParaRPr lang="en-US" sz="800" dirty="0"/>
          </a:p>
        </p:txBody>
      </p:sp>
      <p:sp>
        <p:nvSpPr>
          <p:cNvPr id="49" name="Shape 47"/>
          <p:cNvSpPr/>
          <p:nvPr/>
        </p:nvSpPr>
        <p:spPr>
          <a:xfrm>
            <a:off x="3721608" y="4261104"/>
            <a:ext cx="0" cy="64008"/>
          </a:xfrm>
          <a:prstGeom prst="line">
            <a:avLst/>
          </a:prstGeom>
          <a:noFill/>
          <a:ln w="10160">
            <a:solidFill>
              <a:srgbClr val="3D6B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0" name="Shape 48"/>
          <p:cNvSpPr/>
          <p:nvPr/>
        </p:nvSpPr>
        <p:spPr>
          <a:xfrm>
            <a:off x="3191256" y="4325112"/>
            <a:ext cx="1188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014F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1" name="Text 49"/>
          <p:cNvSpPr/>
          <p:nvPr/>
        </p:nvSpPr>
        <p:spPr>
          <a:xfrm>
            <a:off x="3236976" y="4325112"/>
            <a:ext cx="1115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Donations Panel</a:t>
            </a:r>
            <a:endParaRPr lang="en-US" sz="800" dirty="0"/>
          </a:p>
        </p:txBody>
      </p:sp>
      <p:sp>
        <p:nvSpPr>
          <p:cNvPr id="52" name="Shape 50"/>
          <p:cNvSpPr/>
          <p:nvPr/>
        </p:nvSpPr>
        <p:spPr>
          <a:xfrm>
            <a:off x="5111496" y="1673352"/>
            <a:ext cx="0" cy="228600"/>
          </a:xfrm>
          <a:prstGeom prst="line">
            <a:avLst/>
          </a:prstGeom>
          <a:noFill/>
          <a:ln w="12700">
            <a:solidFill>
              <a:srgbClr val="3D6B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3" name="Shape 51"/>
          <p:cNvSpPr/>
          <p:nvPr/>
        </p:nvSpPr>
        <p:spPr>
          <a:xfrm>
            <a:off x="4581144" y="1901952"/>
            <a:ext cx="1188720" cy="457200"/>
          </a:xfrm>
          <a:prstGeom prst="rect">
            <a:avLst/>
          </a:prstGeom>
          <a:solidFill>
            <a:srgbClr val="028090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4" name="Text 52"/>
          <p:cNvSpPr/>
          <p:nvPr/>
        </p:nvSpPr>
        <p:spPr>
          <a:xfrm>
            <a:off x="4581144" y="190195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1.4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Feature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850" dirty="0"/>
          </a:p>
        </p:txBody>
      </p:sp>
      <p:sp>
        <p:nvSpPr>
          <p:cNvPr id="55" name="Shape 53"/>
          <p:cNvSpPr/>
          <p:nvPr/>
        </p:nvSpPr>
        <p:spPr>
          <a:xfrm>
            <a:off x="5111496" y="2359152"/>
            <a:ext cx="0" cy="182880"/>
          </a:xfrm>
          <a:prstGeom prst="line">
            <a:avLst/>
          </a:prstGeom>
          <a:noFill/>
          <a:ln w="10160">
            <a:solidFill>
              <a:srgbClr val="3D6B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6" name="Shape 54"/>
          <p:cNvSpPr/>
          <p:nvPr/>
        </p:nvSpPr>
        <p:spPr>
          <a:xfrm>
            <a:off x="4581144" y="2542032"/>
            <a:ext cx="1188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7" name="Text 55"/>
          <p:cNvSpPr/>
          <p:nvPr/>
        </p:nvSpPr>
        <p:spPr>
          <a:xfrm>
            <a:off x="4626864" y="2542032"/>
            <a:ext cx="1115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CMS</a:t>
            </a:r>
            <a:endParaRPr lang="en-US" sz="800" dirty="0"/>
          </a:p>
        </p:txBody>
      </p:sp>
      <p:sp>
        <p:nvSpPr>
          <p:cNvPr id="58" name="Shape 56"/>
          <p:cNvSpPr/>
          <p:nvPr/>
        </p:nvSpPr>
        <p:spPr>
          <a:xfrm>
            <a:off x="5111496" y="3072384"/>
            <a:ext cx="0" cy="64008"/>
          </a:xfrm>
          <a:prstGeom prst="line">
            <a:avLst/>
          </a:prstGeom>
          <a:noFill/>
          <a:ln w="10160">
            <a:solidFill>
              <a:srgbClr val="3D6B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59" name="Shape 57"/>
          <p:cNvSpPr/>
          <p:nvPr/>
        </p:nvSpPr>
        <p:spPr>
          <a:xfrm>
            <a:off x="4581144" y="3136392"/>
            <a:ext cx="1188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0" name="Text 58"/>
          <p:cNvSpPr/>
          <p:nvPr/>
        </p:nvSpPr>
        <p:spPr>
          <a:xfrm>
            <a:off x="4626864" y="3136392"/>
            <a:ext cx="1115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Volunteer Module</a:t>
            </a:r>
            <a:endParaRPr lang="en-US" sz="800" dirty="0"/>
          </a:p>
        </p:txBody>
      </p:sp>
      <p:sp>
        <p:nvSpPr>
          <p:cNvPr id="61" name="Shape 59"/>
          <p:cNvSpPr/>
          <p:nvPr/>
        </p:nvSpPr>
        <p:spPr>
          <a:xfrm>
            <a:off x="5111496" y="3666744"/>
            <a:ext cx="0" cy="64008"/>
          </a:xfrm>
          <a:prstGeom prst="line">
            <a:avLst/>
          </a:prstGeom>
          <a:noFill/>
          <a:ln w="10160">
            <a:solidFill>
              <a:srgbClr val="3D6B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2" name="Shape 60"/>
          <p:cNvSpPr/>
          <p:nvPr/>
        </p:nvSpPr>
        <p:spPr>
          <a:xfrm>
            <a:off x="4581144" y="3730752"/>
            <a:ext cx="1188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02809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3" name="Text 61"/>
          <p:cNvSpPr/>
          <p:nvPr/>
        </p:nvSpPr>
        <p:spPr>
          <a:xfrm>
            <a:off x="4626864" y="3730752"/>
            <a:ext cx="1115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Donation form</a:t>
            </a:r>
            <a:endParaRPr lang="en-US" sz="800" dirty="0"/>
          </a:p>
        </p:txBody>
      </p:sp>
      <p:sp>
        <p:nvSpPr>
          <p:cNvPr id="64" name="Shape 62"/>
          <p:cNvSpPr/>
          <p:nvPr/>
        </p:nvSpPr>
        <p:spPr>
          <a:xfrm>
            <a:off x="6501384" y="1673352"/>
            <a:ext cx="0" cy="228600"/>
          </a:xfrm>
          <a:prstGeom prst="line">
            <a:avLst/>
          </a:prstGeom>
          <a:noFill/>
          <a:ln w="12700">
            <a:solidFill>
              <a:srgbClr val="3D6B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5" name="Shape 63"/>
          <p:cNvSpPr/>
          <p:nvPr/>
        </p:nvSpPr>
        <p:spPr>
          <a:xfrm>
            <a:off x="5971032" y="1901952"/>
            <a:ext cx="1188720" cy="457200"/>
          </a:xfrm>
          <a:prstGeom prst="rect">
            <a:avLst/>
          </a:prstGeom>
          <a:solidFill>
            <a:srgbClr val="00A896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6" name="Text 64"/>
          <p:cNvSpPr/>
          <p:nvPr/>
        </p:nvSpPr>
        <p:spPr>
          <a:xfrm>
            <a:off x="5971032" y="190195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1.5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QA</a:t>
            </a:r>
            <a:endParaRPr lang="en-US" sz="850" dirty="0"/>
          </a:p>
        </p:txBody>
      </p:sp>
      <p:sp>
        <p:nvSpPr>
          <p:cNvPr id="67" name="Shape 65"/>
          <p:cNvSpPr/>
          <p:nvPr/>
        </p:nvSpPr>
        <p:spPr>
          <a:xfrm>
            <a:off x="6501384" y="2359152"/>
            <a:ext cx="0" cy="182880"/>
          </a:xfrm>
          <a:prstGeom prst="line">
            <a:avLst/>
          </a:prstGeom>
          <a:noFill/>
          <a:ln w="10160">
            <a:solidFill>
              <a:srgbClr val="3D6B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8" name="Shape 66"/>
          <p:cNvSpPr/>
          <p:nvPr/>
        </p:nvSpPr>
        <p:spPr>
          <a:xfrm>
            <a:off x="5971032" y="2542032"/>
            <a:ext cx="1188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9" name="Text 67"/>
          <p:cNvSpPr/>
          <p:nvPr/>
        </p:nvSpPr>
        <p:spPr>
          <a:xfrm>
            <a:off x="6016752" y="2542032"/>
            <a:ext cx="1115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 Planning</a:t>
            </a:r>
            <a:endParaRPr lang="en-US" sz="800" dirty="0"/>
          </a:p>
        </p:txBody>
      </p:sp>
      <p:sp>
        <p:nvSpPr>
          <p:cNvPr id="70" name="Shape 68"/>
          <p:cNvSpPr/>
          <p:nvPr/>
        </p:nvSpPr>
        <p:spPr>
          <a:xfrm>
            <a:off x="6501384" y="3072384"/>
            <a:ext cx="0" cy="64008"/>
          </a:xfrm>
          <a:prstGeom prst="line">
            <a:avLst/>
          </a:prstGeom>
          <a:noFill/>
          <a:ln w="10160">
            <a:solidFill>
              <a:srgbClr val="3D6B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1" name="Shape 69"/>
          <p:cNvSpPr/>
          <p:nvPr/>
        </p:nvSpPr>
        <p:spPr>
          <a:xfrm>
            <a:off x="5971032" y="3136392"/>
            <a:ext cx="1188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2" name="Text 70"/>
          <p:cNvSpPr/>
          <p:nvPr/>
        </p:nvSpPr>
        <p:spPr>
          <a:xfrm>
            <a:off x="6016752" y="3136392"/>
            <a:ext cx="1115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Unit &amp; Integration</a:t>
            </a:r>
            <a:endParaRPr lang="en-US" sz="800" dirty="0"/>
          </a:p>
        </p:txBody>
      </p:sp>
      <p:sp>
        <p:nvSpPr>
          <p:cNvPr id="73" name="Shape 71"/>
          <p:cNvSpPr/>
          <p:nvPr/>
        </p:nvSpPr>
        <p:spPr>
          <a:xfrm>
            <a:off x="6501384" y="3666744"/>
            <a:ext cx="0" cy="64008"/>
          </a:xfrm>
          <a:prstGeom prst="line">
            <a:avLst/>
          </a:prstGeom>
          <a:noFill/>
          <a:ln w="10160">
            <a:solidFill>
              <a:srgbClr val="3D6B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4" name="Shape 72"/>
          <p:cNvSpPr/>
          <p:nvPr/>
        </p:nvSpPr>
        <p:spPr>
          <a:xfrm>
            <a:off x="5971032" y="3730752"/>
            <a:ext cx="1188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5" name="Text 73"/>
          <p:cNvSpPr/>
          <p:nvPr/>
        </p:nvSpPr>
        <p:spPr>
          <a:xfrm>
            <a:off x="6016752" y="3730752"/>
            <a:ext cx="1115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System &amp; UAT</a:t>
            </a:r>
            <a:endParaRPr lang="en-US" sz="800" dirty="0"/>
          </a:p>
        </p:txBody>
      </p:sp>
      <p:sp>
        <p:nvSpPr>
          <p:cNvPr id="76" name="Shape 74"/>
          <p:cNvSpPr/>
          <p:nvPr/>
        </p:nvSpPr>
        <p:spPr>
          <a:xfrm>
            <a:off x="6501384" y="4261104"/>
            <a:ext cx="0" cy="64008"/>
          </a:xfrm>
          <a:prstGeom prst="line">
            <a:avLst/>
          </a:prstGeom>
          <a:noFill/>
          <a:ln w="10160">
            <a:solidFill>
              <a:srgbClr val="3D6B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7" name="Shape 75"/>
          <p:cNvSpPr/>
          <p:nvPr/>
        </p:nvSpPr>
        <p:spPr>
          <a:xfrm>
            <a:off x="5971032" y="4325112"/>
            <a:ext cx="1188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78" name="Text 76"/>
          <p:cNvSpPr/>
          <p:nvPr/>
        </p:nvSpPr>
        <p:spPr>
          <a:xfrm>
            <a:off x="6016752" y="4325112"/>
            <a:ext cx="1115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Security &amp; Performance</a:t>
            </a:r>
            <a:endParaRPr lang="en-US" sz="800" dirty="0"/>
          </a:p>
        </p:txBody>
      </p:sp>
      <p:sp>
        <p:nvSpPr>
          <p:cNvPr id="79" name="Shape 77"/>
          <p:cNvSpPr/>
          <p:nvPr/>
        </p:nvSpPr>
        <p:spPr>
          <a:xfrm>
            <a:off x="7891272" y="1673352"/>
            <a:ext cx="0" cy="228600"/>
          </a:xfrm>
          <a:prstGeom prst="line">
            <a:avLst/>
          </a:prstGeom>
          <a:noFill/>
          <a:ln w="12700">
            <a:solidFill>
              <a:srgbClr val="3D6B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0" name="Shape 78"/>
          <p:cNvSpPr/>
          <p:nvPr/>
        </p:nvSpPr>
        <p:spPr>
          <a:xfrm>
            <a:off x="7360920" y="1901952"/>
            <a:ext cx="1188720" cy="457200"/>
          </a:xfrm>
          <a:prstGeom prst="rect">
            <a:avLst/>
          </a:prstGeom>
          <a:solidFill>
            <a:srgbClr val="014F59"/>
          </a:solidFill>
          <a:ln w="12700">
            <a:solidFill>
              <a:srgbClr val="014F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1" name="Text 79"/>
          <p:cNvSpPr/>
          <p:nvPr/>
        </p:nvSpPr>
        <p:spPr>
          <a:xfrm>
            <a:off x="7360920" y="1901952"/>
            <a:ext cx="118872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1.6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Deployment</a:t>
            </a:r>
            <a:endParaRPr lang="en-US" sz="850" dirty="0"/>
          </a:p>
          <a:p>
            <a:pPr marL="0" indent="0" algn="ctr">
              <a:buNone/>
            </a:pPr>
            <a:r>
              <a:rPr lang="en-US" sz="85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&amp; Launch</a:t>
            </a:r>
            <a:endParaRPr lang="en-US" sz="850" dirty="0"/>
          </a:p>
        </p:txBody>
      </p:sp>
      <p:sp>
        <p:nvSpPr>
          <p:cNvPr id="82" name="Shape 80"/>
          <p:cNvSpPr/>
          <p:nvPr/>
        </p:nvSpPr>
        <p:spPr>
          <a:xfrm>
            <a:off x="7891272" y="2359152"/>
            <a:ext cx="0" cy="182880"/>
          </a:xfrm>
          <a:prstGeom prst="line">
            <a:avLst/>
          </a:prstGeom>
          <a:noFill/>
          <a:ln w="10160">
            <a:solidFill>
              <a:srgbClr val="3D6B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3" name="Shape 81"/>
          <p:cNvSpPr/>
          <p:nvPr/>
        </p:nvSpPr>
        <p:spPr>
          <a:xfrm>
            <a:off x="7360920" y="2542032"/>
            <a:ext cx="1188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014F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4" name="Text 82"/>
          <p:cNvSpPr/>
          <p:nvPr/>
        </p:nvSpPr>
        <p:spPr>
          <a:xfrm>
            <a:off x="7406640" y="2542032"/>
            <a:ext cx="1115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Env. Setup</a:t>
            </a:r>
            <a:endParaRPr lang="en-US" sz="800" dirty="0"/>
          </a:p>
        </p:txBody>
      </p:sp>
      <p:sp>
        <p:nvSpPr>
          <p:cNvPr id="85" name="Shape 83"/>
          <p:cNvSpPr/>
          <p:nvPr/>
        </p:nvSpPr>
        <p:spPr>
          <a:xfrm>
            <a:off x="7891272" y="3072384"/>
            <a:ext cx="0" cy="64008"/>
          </a:xfrm>
          <a:prstGeom prst="line">
            <a:avLst/>
          </a:prstGeom>
          <a:noFill/>
          <a:ln w="10160">
            <a:solidFill>
              <a:srgbClr val="3D6B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6" name="Shape 84"/>
          <p:cNvSpPr/>
          <p:nvPr/>
        </p:nvSpPr>
        <p:spPr>
          <a:xfrm>
            <a:off x="7360920" y="3136392"/>
            <a:ext cx="1188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014F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7" name="Text 85"/>
          <p:cNvSpPr/>
          <p:nvPr/>
        </p:nvSpPr>
        <p:spPr>
          <a:xfrm>
            <a:off x="7406640" y="3136392"/>
            <a:ext cx="1115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Content population &amp; final review</a:t>
            </a:r>
            <a:endParaRPr lang="en-US" sz="800" dirty="0"/>
          </a:p>
        </p:txBody>
      </p:sp>
      <p:sp>
        <p:nvSpPr>
          <p:cNvPr id="88" name="Shape 86"/>
          <p:cNvSpPr/>
          <p:nvPr/>
        </p:nvSpPr>
        <p:spPr>
          <a:xfrm>
            <a:off x="7891272" y="3666744"/>
            <a:ext cx="0" cy="64008"/>
          </a:xfrm>
          <a:prstGeom prst="line">
            <a:avLst/>
          </a:prstGeom>
          <a:noFill/>
          <a:ln w="10160">
            <a:solidFill>
              <a:srgbClr val="3D6B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89" name="Shape 87"/>
          <p:cNvSpPr/>
          <p:nvPr/>
        </p:nvSpPr>
        <p:spPr>
          <a:xfrm>
            <a:off x="7360920" y="3730752"/>
            <a:ext cx="1188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014F59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90" name="Text 88"/>
          <p:cNvSpPr/>
          <p:nvPr/>
        </p:nvSpPr>
        <p:spPr>
          <a:xfrm>
            <a:off x="7406640" y="3730752"/>
            <a:ext cx="1115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User Training &amp; documentation</a:t>
            </a:r>
            <a:endParaRPr lang="en-US" sz="800" dirty="0"/>
          </a:p>
        </p:txBody>
      </p:sp>
      <p:sp>
        <p:nvSpPr>
          <p:cNvPr id="91" name="Shape 89"/>
          <p:cNvSpPr/>
          <p:nvPr/>
        </p:nvSpPr>
        <p:spPr>
          <a:xfrm>
            <a:off x="7891272" y="4261104"/>
            <a:ext cx="0" cy="64008"/>
          </a:xfrm>
          <a:prstGeom prst="line">
            <a:avLst/>
          </a:prstGeom>
          <a:noFill/>
          <a:ln w="10160">
            <a:solidFill>
              <a:srgbClr val="3D6B70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2" name="Shape 90"/>
          <p:cNvSpPr/>
          <p:nvPr/>
        </p:nvSpPr>
        <p:spPr>
          <a:xfrm>
            <a:off x="7360920" y="4325112"/>
            <a:ext cx="1188720" cy="530352"/>
          </a:xfrm>
          <a:prstGeom prst="rect">
            <a:avLst/>
          </a:prstGeom>
          <a:solidFill>
            <a:srgbClr val="FFFFFF"/>
          </a:solidFill>
          <a:ln w="12700">
            <a:solidFill>
              <a:srgbClr val="014F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93" name="Text 91"/>
          <p:cNvSpPr/>
          <p:nvPr/>
        </p:nvSpPr>
        <p:spPr>
          <a:xfrm>
            <a:off x="7406640" y="4325112"/>
            <a:ext cx="1115568" cy="53035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800" dirty="0">
                <a:solidFill>
                  <a:srgbClr val="1A2E3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 presentation &amp; sponsor sign-off</a:t>
            </a:r>
            <a:endParaRPr lang="en-US" sz="800" dirty="0"/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14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List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scheduled activities with durations, predecessors and owners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0"/>
          </a:xfrm>
          <a:prstGeom prst="line">
            <a:avLst/>
          </a:prstGeom>
          <a:noFill/>
          <a:ln w="19050">
            <a:solidFill>
              <a:srgbClr val="E8F7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14F59"/>
          </a:solidFill>
          <a:ln w="12700">
            <a:solidFill>
              <a:srgbClr val="014F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Charity Organization Website  |  Jana Hassan &amp; Seif Ahmed  |  UNICEF</a:t>
            </a:r>
            <a:endParaRPr lang="en-US" sz="900" dirty="0"/>
          </a:p>
        </p:txBody>
      </p:sp>
      <p:pic>
        <p:nvPicPr>
          <p:cNvPr id="10" name="Picture 9">
            <a:extLst>
              <a:ext uri="{FF2B5EF4-FFF2-40B4-BE49-F238E27FC236}">
                <a16:creationId xmlns:a16="http://schemas.microsoft.com/office/drawing/2014/main" id="{7A926961-C17D-B23C-52CA-F5F270F155EC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192024" y="832104"/>
            <a:ext cx="4251674" cy="4023355"/>
          </a:xfrm>
          <a:prstGeom prst="rect">
            <a:avLst/>
          </a:prstGeom>
        </p:spPr>
      </p:pic>
      <p:pic>
        <p:nvPicPr>
          <p:cNvPr id="13" name="Picture 12">
            <a:extLst>
              <a:ext uri="{FF2B5EF4-FFF2-40B4-BE49-F238E27FC236}">
                <a16:creationId xmlns:a16="http://schemas.microsoft.com/office/drawing/2014/main" id="{96A0D36A-088A-72C8-8FC2-4ED2690A1965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l="696" t="996" r="413" b="654"/>
          <a:stretch>
            <a:fillRect/>
          </a:stretch>
        </p:blipFill>
        <p:spPr>
          <a:xfrm>
            <a:off x="4700302" y="850394"/>
            <a:ext cx="4251674" cy="3986778"/>
          </a:xfrm>
          <a:prstGeom prst="rect">
            <a:avLst/>
          </a:prstGeom>
        </p:spPr>
      </p:pic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14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Network Diagram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Precedence Diagramming Method (PDM) — Finish-to-Start dependencies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0"/>
          </a:xfrm>
          <a:prstGeom prst="line">
            <a:avLst/>
          </a:prstGeom>
          <a:noFill/>
          <a:ln w="19050">
            <a:solidFill>
              <a:srgbClr val="E8F7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14F59"/>
          </a:solidFill>
          <a:ln w="12700">
            <a:solidFill>
              <a:srgbClr val="014F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Charity Organization Website  |  Jana Hassan &amp; Seif Ahmed  |  UNICEF</a:t>
            </a:r>
            <a:endParaRPr lang="en-US" sz="900" dirty="0"/>
          </a:p>
        </p:txBody>
      </p:sp>
      <p:pic>
        <p:nvPicPr>
          <p:cNvPr id="54" name="Picture 53">
            <a:extLst>
              <a:ext uri="{FF2B5EF4-FFF2-40B4-BE49-F238E27FC236}">
                <a16:creationId xmlns:a16="http://schemas.microsoft.com/office/drawing/2014/main" id="{53498D49-7166-BBB9-C283-606DFA46C48F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t="3326" b="10751"/>
          <a:stretch>
            <a:fillRect/>
          </a:stretch>
        </p:blipFill>
        <p:spPr>
          <a:xfrm>
            <a:off x="0" y="987551"/>
            <a:ext cx="4851400" cy="3739892"/>
          </a:xfrm>
          <a:prstGeom prst="rect">
            <a:avLst/>
          </a:prstGeom>
        </p:spPr>
      </p:pic>
      <p:pic>
        <p:nvPicPr>
          <p:cNvPr id="56" name="Picture 55">
            <a:extLst>
              <a:ext uri="{FF2B5EF4-FFF2-40B4-BE49-F238E27FC236}">
                <a16:creationId xmlns:a16="http://schemas.microsoft.com/office/drawing/2014/main" id="{3FDF784A-CCEF-D7A9-6336-487267FD03BC}"/>
              </a:ext>
            </a:extLst>
          </p:cNvPr>
          <p:cNvPicPr>
            <a:picLocks noChangeAspect="1"/>
          </p:cNvPicPr>
          <p:nvPr/>
        </p:nvPicPr>
        <p:blipFill>
          <a:blip r:embed="rId4"/>
          <a:srcRect t="45671" r="2811" b="3924"/>
          <a:stretch>
            <a:fillRect/>
          </a:stretch>
        </p:blipFill>
        <p:spPr>
          <a:xfrm>
            <a:off x="4851400" y="2555259"/>
            <a:ext cx="4292600" cy="2234673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14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Gantt Chart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schedule from 15 March to 21 June 2026 (≈70 working days)</a:t>
            </a:r>
            <a:endParaRPr lang="en-US" sz="1100" dirty="0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14F59"/>
          </a:solidFill>
          <a:ln w="12700">
            <a:solidFill>
              <a:srgbClr val="014F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Charity Organization Website  |  Jana Hassan &amp; Seif Ahmed  |  UNICEF</a:t>
            </a:r>
            <a:endParaRPr lang="en-US" sz="900" dirty="0"/>
          </a:p>
        </p:txBody>
      </p:sp>
      <p:pic>
        <p:nvPicPr>
          <p:cNvPr id="49" name="Picture 48">
            <a:extLst>
              <a:ext uri="{FF2B5EF4-FFF2-40B4-BE49-F238E27FC236}">
                <a16:creationId xmlns:a16="http://schemas.microsoft.com/office/drawing/2014/main" id="{A9E80FCA-E2E7-6F3A-6B27-C3B134188738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r="20208" b="45009"/>
          <a:stretch>
            <a:fillRect/>
          </a:stretch>
        </p:blipFill>
        <p:spPr>
          <a:xfrm>
            <a:off x="274320" y="1057454"/>
            <a:ext cx="8710929" cy="3509974"/>
          </a:xfrm>
          <a:prstGeom prst="rect">
            <a:avLst/>
          </a:prstGeom>
        </p:spPr>
      </p:pic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14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Path Analysis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Longest path = 48 days with zero float — determines project end date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0"/>
          </a:xfrm>
          <a:prstGeom prst="line">
            <a:avLst/>
          </a:prstGeom>
          <a:noFill/>
          <a:ln w="19050">
            <a:solidFill>
              <a:srgbClr val="E8F7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14F59"/>
          </a:solidFill>
          <a:ln w="12700">
            <a:solidFill>
              <a:srgbClr val="014F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Charity Organization Website  |  Jana Hassan &amp; Seif Ahmed  |  UNICEF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20040" y="1645920"/>
            <a:ext cx="1005840" cy="777240"/>
          </a:xfrm>
          <a:prstGeom prst="rect">
            <a:avLst/>
          </a:prstGeom>
          <a:solidFill>
            <a:srgbClr val="028090"/>
          </a:solidFill>
          <a:ln w="19050">
            <a:solidFill>
              <a:srgbClr val="014F5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320040" y="164592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Gathering (4d)</a:t>
            </a:r>
            <a:endParaRPr lang="en-US" sz="900" dirty="0"/>
          </a:p>
        </p:txBody>
      </p:sp>
      <p:sp>
        <p:nvSpPr>
          <p:cNvPr id="11" name="Shape 9"/>
          <p:cNvSpPr/>
          <p:nvPr/>
        </p:nvSpPr>
        <p:spPr>
          <a:xfrm>
            <a:off x="1325880" y="2034540"/>
            <a:ext cx="109728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2" name="Shape 10"/>
          <p:cNvSpPr/>
          <p:nvPr/>
        </p:nvSpPr>
        <p:spPr>
          <a:xfrm>
            <a:off x="1435608" y="1645920"/>
            <a:ext cx="1005840" cy="777240"/>
          </a:xfrm>
          <a:prstGeom prst="rect">
            <a:avLst/>
          </a:prstGeom>
          <a:solidFill>
            <a:srgbClr val="028090"/>
          </a:solidFill>
          <a:ln w="19050">
            <a:solidFill>
              <a:srgbClr val="014F5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3" name="Text 11"/>
          <p:cNvSpPr/>
          <p:nvPr/>
        </p:nvSpPr>
        <p:spPr>
          <a:xfrm>
            <a:off x="1435608" y="164592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UI/UX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Design (4d)</a:t>
            </a:r>
            <a:endParaRPr lang="en-US" sz="900" dirty="0"/>
          </a:p>
        </p:txBody>
      </p:sp>
      <p:sp>
        <p:nvSpPr>
          <p:cNvPr id="14" name="Shape 12"/>
          <p:cNvSpPr/>
          <p:nvPr/>
        </p:nvSpPr>
        <p:spPr>
          <a:xfrm>
            <a:off x="2441448" y="2034540"/>
            <a:ext cx="109728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5" name="Shape 13"/>
          <p:cNvSpPr/>
          <p:nvPr/>
        </p:nvSpPr>
        <p:spPr>
          <a:xfrm>
            <a:off x="2551176" y="1645920"/>
            <a:ext cx="1005840" cy="777240"/>
          </a:xfrm>
          <a:prstGeom prst="rect">
            <a:avLst/>
          </a:prstGeom>
          <a:solidFill>
            <a:srgbClr val="028090"/>
          </a:solidFill>
          <a:ln w="19050">
            <a:solidFill>
              <a:srgbClr val="014F5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6" name="Text 14"/>
          <p:cNvSpPr/>
          <p:nvPr/>
        </p:nvSpPr>
        <p:spPr>
          <a:xfrm>
            <a:off x="2551176" y="164592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Frontend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(5d)</a:t>
            </a:r>
            <a:endParaRPr lang="en-US" sz="900" dirty="0"/>
          </a:p>
        </p:txBody>
      </p:sp>
      <p:sp>
        <p:nvSpPr>
          <p:cNvPr id="17" name="Shape 15"/>
          <p:cNvSpPr/>
          <p:nvPr/>
        </p:nvSpPr>
        <p:spPr>
          <a:xfrm>
            <a:off x="3557016" y="2034540"/>
            <a:ext cx="109728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18" name="Shape 16"/>
          <p:cNvSpPr/>
          <p:nvPr/>
        </p:nvSpPr>
        <p:spPr>
          <a:xfrm>
            <a:off x="3666744" y="1645920"/>
            <a:ext cx="1005840" cy="777240"/>
          </a:xfrm>
          <a:prstGeom prst="rect">
            <a:avLst/>
          </a:prstGeom>
          <a:solidFill>
            <a:srgbClr val="028090"/>
          </a:solidFill>
          <a:ln w="19050">
            <a:solidFill>
              <a:srgbClr val="014F5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9" name="Text 17"/>
          <p:cNvSpPr/>
          <p:nvPr/>
        </p:nvSpPr>
        <p:spPr>
          <a:xfrm>
            <a:off x="3666744" y="164592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Backend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Dev (6d)</a:t>
            </a:r>
            <a:endParaRPr lang="en-US" sz="900" dirty="0"/>
          </a:p>
        </p:txBody>
      </p:sp>
      <p:sp>
        <p:nvSpPr>
          <p:cNvPr id="20" name="Shape 18"/>
          <p:cNvSpPr/>
          <p:nvPr/>
        </p:nvSpPr>
        <p:spPr>
          <a:xfrm>
            <a:off x="4672584" y="2034540"/>
            <a:ext cx="109728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1" name="Shape 19"/>
          <p:cNvSpPr/>
          <p:nvPr/>
        </p:nvSpPr>
        <p:spPr>
          <a:xfrm>
            <a:off x="4782312" y="1645920"/>
            <a:ext cx="1005840" cy="777240"/>
          </a:xfrm>
          <a:prstGeom prst="rect">
            <a:avLst/>
          </a:prstGeom>
          <a:solidFill>
            <a:srgbClr val="028090"/>
          </a:solidFill>
          <a:ln w="19050">
            <a:solidFill>
              <a:srgbClr val="014F5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782312" y="164592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Integration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(5d)</a:t>
            </a:r>
            <a:endParaRPr lang="en-US" sz="900" dirty="0"/>
          </a:p>
        </p:txBody>
      </p:sp>
      <p:sp>
        <p:nvSpPr>
          <p:cNvPr id="23" name="Shape 21"/>
          <p:cNvSpPr/>
          <p:nvPr/>
        </p:nvSpPr>
        <p:spPr>
          <a:xfrm>
            <a:off x="5788152" y="2034540"/>
            <a:ext cx="109728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4" name="Shape 22"/>
          <p:cNvSpPr/>
          <p:nvPr/>
        </p:nvSpPr>
        <p:spPr>
          <a:xfrm>
            <a:off x="5897880" y="1645920"/>
            <a:ext cx="1005840" cy="777240"/>
          </a:xfrm>
          <a:prstGeom prst="rect">
            <a:avLst/>
          </a:prstGeom>
          <a:solidFill>
            <a:srgbClr val="028090"/>
          </a:solidFill>
          <a:ln w="19050">
            <a:solidFill>
              <a:srgbClr val="014F5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5" name="Text 23"/>
          <p:cNvSpPr/>
          <p:nvPr/>
        </p:nvSpPr>
        <p:spPr>
          <a:xfrm>
            <a:off x="5897880" y="164592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Testing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(6d+4d)</a:t>
            </a:r>
            <a:endParaRPr lang="en-US" sz="900" dirty="0"/>
          </a:p>
        </p:txBody>
      </p:sp>
      <p:sp>
        <p:nvSpPr>
          <p:cNvPr id="26" name="Shape 24"/>
          <p:cNvSpPr/>
          <p:nvPr/>
        </p:nvSpPr>
        <p:spPr>
          <a:xfrm>
            <a:off x="6903720" y="2034540"/>
            <a:ext cx="109728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27" name="Shape 25"/>
          <p:cNvSpPr/>
          <p:nvPr/>
        </p:nvSpPr>
        <p:spPr>
          <a:xfrm>
            <a:off x="7013448" y="1645920"/>
            <a:ext cx="1005840" cy="777240"/>
          </a:xfrm>
          <a:prstGeom prst="rect">
            <a:avLst/>
          </a:prstGeom>
          <a:solidFill>
            <a:srgbClr val="028090"/>
          </a:solidFill>
          <a:ln w="19050">
            <a:solidFill>
              <a:srgbClr val="014F5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8" name="Text 26"/>
          <p:cNvSpPr/>
          <p:nvPr/>
        </p:nvSpPr>
        <p:spPr>
          <a:xfrm>
            <a:off x="7013448" y="164592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Final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Review (2d)</a:t>
            </a:r>
            <a:endParaRPr lang="en-US" sz="900" dirty="0"/>
          </a:p>
        </p:txBody>
      </p:sp>
      <p:sp>
        <p:nvSpPr>
          <p:cNvPr id="29" name="Shape 27"/>
          <p:cNvSpPr/>
          <p:nvPr/>
        </p:nvSpPr>
        <p:spPr>
          <a:xfrm>
            <a:off x="8019288" y="2034540"/>
            <a:ext cx="109728" cy="0"/>
          </a:xfrm>
          <a:prstGeom prst="line">
            <a:avLst/>
          </a:prstGeom>
          <a:noFill/>
          <a:ln w="25400">
            <a:solidFill>
              <a:srgbClr val="F5A623"/>
            </a:solidFill>
            <a:prstDash val="solid"/>
            <a:tailEnd type="none"/>
          </a:ln>
        </p:spPr>
        <p:txBody>
          <a:bodyPr/>
          <a:lstStyle/>
          <a:p>
            <a:endParaRPr lang="en-US"/>
          </a:p>
        </p:txBody>
      </p:sp>
      <p:sp>
        <p:nvSpPr>
          <p:cNvPr id="30" name="Shape 28"/>
          <p:cNvSpPr/>
          <p:nvPr/>
        </p:nvSpPr>
        <p:spPr>
          <a:xfrm>
            <a:off x="8129016" y="1645920"/>
            <a:ext cx="1005840" cy="777240"/>
          </a:xfrm>
          <a:prstGeom prst="rect">
            <a:avLst/>
          </a:prstGeom>
          <a:solidFill>
            <a:srgbClr val="02C39A"/>
          </a:solidFill>
          <a:ln w="19050">
            <a:solidFill>
              <a:srgbClr val="014F59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1" name="Text 29"/>
          <p:cNvSpPr/>
          <p:nvPr/>
        </p:nvSpPr>
        <p:spPr>
          <a:xfrm>
            <a:off x="8129016" y="1645920"/>
            <a:ext cx="1005840" cy="7772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Delivery</a:t>
            </a:r>
            <a:endParaRPr lang="en-US" sz="900" dirty="0"/>
          </a:p>
          <a:p>
            <a:pPr marL="0" indent="0" algn="ctr">
              <a:buNone/>
            </a:pPr>
            <a:r>
              <a:rPr lang="en-US" sz="9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(21 Jun)</a:t>
            </a:r>
            <a:endParaRPr lang="en-US" sz="900" dirty="0"/>
          </a:p>
        </p:txBody>
      </p:sp>
      <p:sp>
        <p:nvSpPr>
          <p:cNvPr id="32" name="Text 30"/>
          <p:cNvSpPr/>
          <p:nvPr/>
        </p:nvSpPr>
        <p:spPr>
          <a:xfrm>
            <a:off x="320040" y="2560320"/>
            <a:ext cx="8503920" cy="32004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200" b="1" dirty="0">
                <a:solidFill>
                  <a:srgbClr val="E05C5C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 = 0 days on all critical path activities</a:t>
            </a:r>
            <a:endParaRPr lang="en-US" sz="1200" dirty="0"/>
          </a:p>
        </p:txBody>
      </p:sp>
      <p:sp>
        <p:nvSpPr>
          <p:cNvPr id="33" name="Shape 31"/>
          <p:cNvSpPr/>
          <p:nvPr/>
        </p:nvSpPr>
        <p:spPr>
          <a:xfrm>
            <a:off x="365760" y="3017520"/>
            <a:ext cx="2011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7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365760" y="3063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~48 working days</a:t>
            </a:r>
            <a:endParaRPr lang="en-US" sz="1700" dirty="0"/>
          </a:p>
        </p:txBody>
      </p:sp>
      <p:sp>
        <p:nvSpPr>
          <p:cNvPr id="35" name="Text 33"/>
          <p:cNvSpPr/>
          <p:nvPr/>
        </p:nvSpPr>
        <p:spPr>
          <a:xfrm>
            <a:off x="365760" y="35204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Path Duration</a:t>
            </a:r>
            <a:endParaRPr lang="en-US" sz="950" dirty="0"/>
          </a:p>
        </p:txBody>
      </p:sp>
      <p:sp>
        <p:nvSpPr>
          <p:cNvPr id="36" name="Shape 34"/>
          <p:cNvSpPr/>
          <p:nvPr/>
        </p:nvSpPr>
        <p:spPr>
          <a:xfrm>
            <a:off x="2542032" y="3017520"/>
            <a:ext cx="2011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7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7" name="Text 35"/>
          <p:cNvSpPr/>
          <p:nvPr/>
        </p:nvSpPr>
        <p:spPr>
          <a:xfrm>
            <a:off x="2542032" y="3063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working days</a:t>
            </a:r>
            <a:endParaRPr lang="en-US" sz="1700" dirty="0"/>
          </a:p>
        </p:txBody>
      </p:sp>
      <p:sp>
        <p:nvSpPr>
          <p:cNvPr id="38" name="Text 36"/>
          <p:cNvSpPr/>
          <p:nvPr/>
        </p:nvSpPr>
        <p:spPr>
          <a:xfrm>
            <a:off x="2542032" y="35204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Duration</a:t>
            </a:r>
            <a:endParaRPr lang="en-US" sz="950" dirty="0"/>
          </a:p>
        </p:txBody>
      </p:sp>
      <p:sp>
        <p:nvSpPr>
          <p:cNvPr id="39" name="Shape 37"/>
          <p:cNvSpPr/>
          <p:nvPr/>
        </p:nvSpPr>
        <p:spPr>
          <a:xfrm>
            <a:off x="4718304" y="3017520"/>
            <a:ext cx="2011680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7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0" name="Text 38"/>
          <p:cNvSpPr/>
          <p:nvPr/>
        </p:nvSpPr>
        <p:spPr>
          <a:xfrm>
            <a:off x="4718304" y="3063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0 days (zero tolerance)</a:t>
            </a:r>
            <a:endParaRPr lang="en-US" sz="1700" dirty="0"/>
          </a:p>
        </p:txBody>
      </p:sp>
      <p:sp>
        <p:nvSpPr>
          <p:cNvPr id="41" name="Text 39"/>
          <p:cNvSpPr/>
          <p:nvPr/>
        </p:nvSpPr>
        <p:spPr>
          <a:xfrm>
            <a:off x="4718304" y="35204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Float on Critical Path</a:t>
            </a:r>
            <a:endParaRPr lang="en-US" sz="950" dirty="0"/>
          </a:p>
        </p:txBody>
      </p:sp>
      <p:sp>
        <p:nvSpPr>
          <p:cNvPr id="42" name="Shape 40"/>
          <p:cNvSpPr/>
          <p:nvPr/>
        </p:nvSpPr>
        <p:spPr>
          <a:xfrm>
            <a:off x="6834249" y="3017520"/>
            <a:ext cx="2131621" cy="91440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7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3" name="Text 41"/>
          <p:cNvSpPr/>
          <p:nvPr/>
        </p:nvSpPr>
        <p:spPr>
          <a:xfrm>
            <a:off x="6894576" y="3063240"/>
            <a:ext cx="201168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700" b="1" dirty="0">
                <a:solidFill>
                  <a:srgbClr val="02809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Daily during execution</a:t>
            </a:r>
            <a:endParaRPr lang="en-US" sz="1700" dirty="0"/>
          </a:p>
        </p:txBody>
      </p:sp>
      <p:sp>
        <p:nvSpPr>
          <p:cNvPr id="44" name="Text 42"/>
          <p:cNvSpPr/>
          <p:nvPr/>
        </p:nvSpPr>
        <p:spPr>
          <a:xfrm>
            <a:off x="6894576" y="3520440"/>
            <a:ext cx="2011680" cy="34747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5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Monitoring Frequency</a:t>
            </a:r>
            <a:endParaRPr lang="en-US" sz="950" dirty="0"/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14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Responsibility Assignment Matrix (RAM)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Who has Primary (P) and Responsible (R) 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0"/>
          </a:xfrm>
          <a:prstGeom prst="line">
            <a:avLst/>
          </a:prstGeom>
          <a:noFill/>
          <a:ln w="19050">
            <a:solidFill>
              <a:srgbClr val="E8F7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14F59"/>
          </a:solidFill>
          <a:ln w="12700">
            <a:solidFill>
              <a:srgbClr val="014F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Charity Organization Website  |  Jana Hassan &amp; Seif Ahmed  |  UNICEF</a:t>
            </a:r>
            <a:endParaRPr lang="en-US" sz="900" dirty="0"/>
          </a:p>
        </p:txBody>
      </p:sp>
      <p:graphicFrame>
        <p:nvGraphicFramePr>
          <p:cNvPr id="17" name="Table 0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657584880"/>
              </p:ext>
            </p:extLst>
          </p:nvPr>
        </p:nvGraphicFramePr>
        <p:xfrm>
          <a:off x="274320" y="987552"/>
          <a:ext cx="8595359" cy="3291841"/>
        </p:xfrm>
        <a:graphic>
          <a:graphicData uri="http://schemas.openxmlformats.org/drawingml/2006/table">
            <a:tbl>
              <a:tblPr/>
              <a:tblGrid>
                <a:gridCol w="129978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215929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215929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215929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215929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  <a:gridCol w="1215929">
                  <a:extLst>
                    <a:ext uri="{9D8B030D-6E8A-4147-A177-3AD203B41FA5}">
                      <a16:colId xmlns:a16="http://schemas.microsoft.com/office/drawing/2014/main" val="20005"/>
                    </a:ext>
                  </a:extLst>
                </a:gridCol>
                <a:gridCol w="1215929">
                  <a:extLst>
                    <a:ext uri="{9D8B030D-6E8A-4147-A177-3AD203B41FA5}">
                      <a16:colId xmlns:a16="http://schemas.microsoft.com/office/drawing/2014/main" val="20006"/>
                    </a:ext>
                  </a:extLst>
                </a:gridCol>
              </a:tblGrid>
              <a:tr h="47026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OBS / WBS 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1.1 Project Management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1.2 Requirement</a:t>
                      </a:r>
                    </a:p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 &amp; Design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1.3 Platform Development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1.4 Feature Integration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1.5 Testing &amp; QA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FFFFF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1.6 Deploy &amp; Launch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028090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Project Management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14F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14F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14F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14F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14F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14F59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Design &amp; UX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Front-End Dev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Back-End Dev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2809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Quality Assurance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00A896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  <a:tr h="470263"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Sponsor (UNICEF)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—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dirty="0">
                          <a:solidFill>
                            <a:srgbClr val="000000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P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tc>
                  <a:txBody>
                    <a:bodyPr/>
                    <a:lstStyle/>
                    <a:p>
                      <a:pPr marL="0" indent="0" algn="ctr">
                        <a:buNone/>
                      </a:pPr>
                      <a:r>
                        <a:rPr lang="en-US" sz="1000" b="1" dirty="0">
                          <a:solidFill>
                            <a:srgbClr val="F5A623"/>
                          </a:solidFill>
                          <a:latin typeface="Calibri" pitchFamily="34" charset="0"/>
                          <a:ea typeface="Calibri" pitchFamily="34" charset="-122"/>
                          <a:cs typeface="Calibri" pitchFamily="34" charset="-120"/>
                        </a:rPr>
                        <a:t>R</a:t>
                      </a:r>
                      <a:endParaRPr lang="en-US" sz="1000" dirty="0">
                        <a:latin typeface="Calibri" charset="0"/>
                        <a:ea typeface="Calibri" charset="0"/>
                        <a:cs typeface="Calibri" charset="0"/>
                      </a:endParaRPr>
                    </a:p>
                  </a:txBody>
                  <a:tcPr>
                    <a:lnL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C0D8DA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FFFFF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6"/>
                  </a:ext>
                </a:extLst>
              </a:tr>
            </a:tbl>
          </a:graphicData>
        </a:graphic>
      </p:graphicFrame>
      <p:sp>
        <p:nvSpPr>
          <p:cNvPr id="10" name="Shape 7"/>
          <p:cNvSpPr/>
          <p:nvPr/>
        </p:nvSpPr>
        <p:spPr>
          <a:xfrm>
            <a:off x="365760" y="4434840"/>
            <a:ext cx="8412480" cy="365760"/>
          </a:xfrm>
          <a:prstGeom prst="rect">
            <a:avLst/>
          </a:prstGeom>
          <a:solidFill>
            <a:srgbClr val="FFFFFF"/>
          </a:solidFill>
          <a:ln w="12700">
            <a:solidFill>
              <a:srgbClr val="E8F7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1" name="Text 8"/>
          <p:cNvSpPr/>
          <p:nvPr/>
        </p:nvSpPr>
        <p:spPr>
          <a:xfrm>
            <a:off x="457200" y="4462272"/>
            <a:ext cx="822960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00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 = Responsible of task  |  P = Perform the task  |  RP = Responsible + Primary</a:t>
            </a:r>
            <a:endParaRPr lang="en-US" sz="1000" dirty="0"/>
          </a:p>
        </p:txBody>
      </p:sp>
      <p:cxnSp>
        <p:nvCxnSpPr>
          <p:cNvPr id="13" name="Straight Arrow Connector 12">
            <a:extLst>
              <a:ext uri="{FF2B5EF4-FFF2-40B4-BE49-F238E27FC236}">
                <a16:creationId xmlns:a16="http://schemas.microsoft.com/office/drawing/2014/main" id="{19B1CE2E-4CE7-664E-EC02-43F04093C69D}"/>
              </a:ext>
            </a:extLst>
          </p:cNvPr>
          <p:cNvCxnSpPr>
            <a:cxnSpLocks/>
          </p:cNvCxnSpPr>
          <p:nvPr/>
        </p:nvCxnSpPr>
        <p:spPr>
          <a:xfrm>
            <a:off x="717550" y="1174750"/>
            <a:ext cx="0" cy="125413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4" name="Straight Arrow Connector 13">
            <a:extLst>
              <a:ext uri="{FF2B5EF4-FFF2-40B4-BE49-F238E27FC236}">
                <a16:creationId xmlns:a16="http://schemas.microsoft.com/office/drawing/2014/main" id="{53EECF38-E137-4402-5EFA-BF7C22689FBE}"/>
              </a:ext>
            </a:extLst>
          </p:cNvPr>
          <p:cNvCxnSpPr>
            <a:cxnSpLocks/>
          </p:cNvCxnSpPr>
          <p:nvPr/>
        </p:nvCxnSpPr>
        <p:spPr>
          <a:xfrm>
            <a:off x="1260475" y="1094846"/>
            <a:ext cx="174625" cy="0"/>
          </a:xfrm>
          <a:prstGeom prst="straightConnector1">
            <a:avLst/>
          </a:prstGeom>
          <a:ln>
            <a:solidFill>
              <a:schemeClr val="bg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14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RACI Chart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Responsible = do the task · Accountable  · Consulted · Informed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0"/>
          </a:xfrm>
          <a:prstGeom prst="line">
            <a:avLst/>
          </a:prstGeom>
          <a:noFill/>
          <a:ln w="19050">
            <a:solidFill>
              <a:srgbClr val="E8F7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14F59"/>
          </a:solidFill>
          <a:ln w="12700">
            <a:solidFill>
              <a:srgbClr val="014F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Charity Organization Website  |  Jana Hassan &amp; Seif Ahmed  |  UNICEF</a:t>
            </a:r>
            <a:endParaRPr lang="en-US" sz="900" dirty="0"/>
          </a:p>
        </p:txBody>
      </p:sp>
      <p:sp>
        <p:nvSpPr>
          <p:cNvPr id="17" name="Text 14"/>
          <p:cNvSpPr/>
          <p:nvPr/>
        </p:nvSpPr>
        <p:spPr>
          <a:xfrm>
            <a:off x="7086600" y="4736592"/>
            <a:ext cx="1828800" cy="20116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636363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I = Informed</a:t>
            </a:r>
            <a:endParaRPr lang="en-US" sz="900" dirty="0"/>
          </a:p>
        </p:txBody>
      </p:sp>
      <p:pic>
        <p:nvPicPr>
          <p:cNvPr id="19" name="Picture 18">
            <a:extLst>
              <a:ext uri="{FF2B5EF4-FFF2-40B4-BE49-F238E27FC236}">
                <a16:creationId xmlns:a16="http://schemas.microsoft.com/office/drawing/2014/main" id="{2544BF69-BC60-5C47-C80B-6CE18860F0AB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5919" t="1269" b="267"/>
          <a:stretch>
            <a:fillRect/>
          </a:stretch>
        </p:blipFill>
        <p:spPr>
          <a:xfrm>
            <a:off x="91440" y="832104"/>
            <a:ext cx="9052560" cy="4023359"/>
          </a:xfrm>
          <a:prstGeom prst="rect">
            <a:avLst/>
          </a:prstGeom>
        </p:spPr>
      </p:pic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0FAFA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365760" y="201168"/>
            <a:ext cx="54864" cy="502920"/>
          </a:xfrm>
          <a:prstGeom prst="rect">
            <a:avLst/>
          </a:prstGeom>
          <a:solidFill>
            <a:srgbClr val="02C39A"/>
          </a:solidFill>
          <a:ln w="12700">
            <a:solidFill>
              <a:srgbClr val="02C39A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02920" y="164592"/>
            <a:ext cx="7772400" cy="41148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2200" b="1" dirty="0">
                <a:solidFill>
                  <a:srgbClr val="014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Summary</a:t>
            </a:r>
            <a:endParaRPr lang="en-US" sz="2200" dirty="0"/>
          </a:p>
        </p:txBody>
      </p:sp>
      <p:sp>
        <p:nvSpPr>
          <p:cNvPr id="4" name="Text 2"/>
          <p:cNvSpPr/>
          <p:nvPr/>
        </p:nvSpPr>
        <p:spPr>
          <a:xfrm>
            <a:off x="502920" y="576072"/>
            <a:ext cx="777240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100" i="1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Key metrics, status and deliverables briefly</a:t>
            </a:r>
            <a:endParaRPr lang="en-US" sz="1100" dirty="0"/>
          </a:p>
        </p:txBody>
      </p:sp>
      <p:sp>
        <p:nvSpPr>
          <p:cNvPr id="5" name="Shape 3"/>
          <p:cNvSpPr/>
          <p:nvPr/>
        </p:nvSpPr>
        <p:spPr>
          <a:xfrm>
            <a:off x="365760" y="868680"/>
            <a:ext cx="8412480" cy="0"/>
          </a:xfrm>
          <a:prstGeom prst="line">
            <a:avLst/>
          </a:prstGeom>
          <a:noFill/>
          <a:ln w="19050">
            <a:solidFill>
              <a:srgbClr val="E8F7F8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6" name="Shape 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14F59"/>
          </a:solidFill>
          <a:ln w="12700">
            <a:solidFill>
              <a:srgbClr val="014F59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274320" y="490118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Charity Organization Website  |  Jana Hassan &amp; Seif Ahmed  |  UNICEF</a:t>
            </a:r>
            <a:endParaRPr lang="en-US" sz="900" dirty="0"/>
          </a:p>
        </p:txBody>
      </p:sp>
      <p:sp>
        <p:nvSpPr>
          <p:cNvPr id="9" name="Shape 7"/>
          <p:cNvSpPr/>
          <p:nvPr/>
        </p:nvSpPr>
        <p:spPr>
          <a:xfrm>
            <a:off x="365760" y="1005840"/>
            <a:ext cx="26517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7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0" name="Text 8"/>
          <p:cNvSpPr/>
          <p:nvPr/>
        </p:nvSpPr>
        <p:spPr>
          <a:xfrm>
            <a:off x="457200" y="1060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1" name="Text 9"/>
          <p:cNvSpPr/>
          <p:nvPr/>
        </p:nvSpPr>
        <p:spPr>
          <a:xfrm>
            <a:off x="960120" y="106070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14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Project Charter</a:t>
            </a:r>
            <a:endParaRPr lang="en-US" sz="1000" dirty="0"/>
          </a:p>
        </p:txBody>
      </p:sp>
      <p:sp>
        <p:nvSpPr>
          <p:cNvPr id="12" name="Text 10"/>
          <p:cNvSpPr/>
          <p:nvPr/>
        </p:nvSpPr>
        <p:spPr>
          <a:xfrm>
            <a:off x="960120" y="1389888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Approved 17 Mar 2026</a:t>
            </a:r>
            <a:endParaRPr lang="en-US" sz="950" dirty="0"/>
          </a:p>
        </p:txBody>
      </p:sp>
      <p:sp>
        <p:nvSpPr>
          <p:cNvPr id="13" name="Shape 11"/>
          <p:cNvSpPr/>
          <p:nvPr/>
        </p:nvSpPr>
        <p:spPr>
          <a:xfrm>
            <a:off x="3200400" y="1005840"/>
            <a:ext cx="26517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7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4" name="Text 12"/>
          <p:cNvSpPr/>
          <p:nvPr/>
        </p:nvSpPr>
        <p:spPr>
          <a:xfrm>
            <a:off x="3291840" y="1060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5" name="Text 13"/>
          <p:cNvSpPr/>
          <p:nvPr/>
        </p:nvSpPr>
        <p:spPr>
          <a:xfrm>
            <a:off x="3794760" y="106070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14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Scope Baseline</a:t>
            </a:r>
            <a:endParaRPr lang="en-US" sz="1000" dirty="0"/>
          </a:p>
        </p:txBody>
      </p:sp>
      <p:sp>
        <p:nvSpPr>
          <p:cNvPr id="16" name="Text 14"/>
          <p:cNvSpPr/>
          <p:nvPr/>
        </p:nvSpPr>
        <p:spPr>
          <a:xfrm>
            <a:off x="3794760" y="1389888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phases · 20 WPs · UNICEF Signed</a:t>
            </a:r>
            <a:endParaRPr lang="en-US" sz="950" dirty="0"/>
          </a:p>
        </p:txBody>
      </p:sp>
      <p:sp>
        <p:nvSpPr>
          <p:cNvPr id="17" name="Shape 15"/>
          <p:cNvSpPr/>
          <p:nvPr/>
        </p:nvSpPr>
        <p:spPr>
          <a:xfrm>
            <a:off x="6035040" y="1005840"/>
            <a:ext cx="26517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7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18" name="Text 16"/>
          <p:cNvSpPr/>
          <p:nvPr/>
        </p:nvSpPr>
        <p:spPr>
          <a:xfrm>
            <a:off x="6126480" y="1060704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19" name="Text 17"/>
          <p:cNvSpPr/>
          <p:nvPr/>
        </p:nvSpPr>
        <p:spPr>
          <a:xfrm>
            <a:off x="6629400" y="1060704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14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Schedule Baseline</a:t>
            </a:r>
            <a:endParaRPr lang="en-US" sz="1000" dirty="0"/>
          </a:p>
        </p:txBody>
      </p:sp>
      <p:sp>
        <p:nvSpPr>
          <p:cNvPr id="20" name="Text 18"/>
          <p:cNvSpPr/>
          <p:nvPr/>
        </p:nvSpPr>
        <p:spPr>
          <a:xfrm>
            <a:off x="6629400" y="1389888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70 working days · 8 milestones</a:t>
            </a:r>
            <a:endParaRPr lang="en-US" sz="950" dirty="0"/>
          </a:p>
        </p:txBody>
      </p:sp>
      <p:sp>
        <p:nvSpPr>
          <p:cNvPr id="21" name="Shape 19"/>
          <p:cNvSpPr/>
          <p:nvPr/>
        </p:nvSpPr>
        <p:spPr>
          <a:xfrm>
            <a:off x="365760" y="1938528"/>
            <a:ext cx="26517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7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2" name="Text 20"/>
          <p:cNvSpPr/>
          <p:nvPr/>
        </p:nvSpPr>
        <p:spPr>
          <a:xfrm>
            <a:off x="45720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3" name="Text 21"/>
          <p:cNvSpPr/>
          <p:nvPr/>
        </p:nvSpPr>
        <p:spPr>
          <a:xfrm>
            <a:off x="960120" y="199339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14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Cost Baseline</a:t>
            </a:r>
            <a:endParaRPr lang="en-US" sz="1000" dirty="0"/>
          </a:p>
        </p:txBody>
      </p:sp>
      <p:sp>
        <p:nvSpPr>
          <p:cNvPr id="24" name="Text 22"/>
          <p:cNvSpPr/>
          <p:nvPr/>
        </p:nvSpPr>
        <p:spPr>
          <a:xfrm>
            <a:off x="960120" y="2322576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$4,400 · Total Budget $4,620</a:t>
            </a:r>
            <a:endParaRPr lang="en-US" sz="950" dirty="0"/>
          </a:p>
        </p:txBody>
      </p:sp>
      <p:sp>
        <p:nvSpPr>
          <p:cNvPr id="25" name="Shape 23"/>
          <p:cNvSpPr/>
          <p:nvPr/>
        </p:nvSpPr>
        <p:spPr>
          <a:xfrm>
            <a:off x="3200400" y="1938528"/>
            <a:ext cx="26517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7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26" name="Text 24"/>
          <p:cNvSpPr/>
          <p:nvPr/>
        </p:nvSpPr>
        <p:spPr>
          <a:xfrm>
            <a:off x="329184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27" name="Text 25"/>
          <p:cNvSpPr/>
          <p:nvPr/>
        </p:nvSpPr>
        <p:spPr>
          <a:xfrm>
            <a:off x="3794760" y="199339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14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Requirements</a:t>
            </a:r>
            <a:endParaRPr lang="en-US" sz="1000" dirty="0"/>
          </a:p>
        </p:txBody>
      </p:sp>
      <p:sp>
        <p:nvSpPr>
          <p:cNvPr id="28" name="Text 26"/>
          <p:cNvSpPr/>
          <p:nvPr/>
        </p:nvSpPr>
        <p:spPr>
          <a:xfrm>
            <a:off x="3794760" y="2322576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10 requirements · All Done</a:t>
            </a:r>
            <a:endParaRPr lang="en-US" sz="950" dirty="0"/>
          </a:p>
        </p:txBody>
      </p:sp>
      <p:sp>
        <p:nvSpPr>
          <p:cNvPr id="29" name="Shape 27"/>
          <p:cNvSpPr/>
          <p:nvPr/>
        </p:nvSpPr>
        <p:spPr>
          <a:xfrm>
            <a:off x="6035040" y="1938528"/>
            <a:ext cx="26517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7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0" name="Text 28"/>
          <p:cNvSpPr/>
          <p:nvPr/>
        </p:nvSpPr>
        <p:spPr>
          <a:xfrm>
            <a:off x="6126480" y="1993392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31" name="Text 29"/>
          <p:cNvSpPr/>
          <p:nvPr/>
        </p:nvSpPr>
        <p:spPr>
          <a:xfrm>
            <a:off x="6629400" y="1993392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14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WBS</a:t>
            </a:r>
            <a:endParaRPr lang="en-US" sz="1000" dirty="0"/>
          </a:p>
        </p:txBody>
      </p:sp>
      <p:sp>
        <p:nvSpPr>
          <p:cNvPr id="32" name="Text 30"/>
          <p:cNvSpPr/>
          <p:nvPr/>
        </p:nvSpPr>
        <p:spPr>
          <a:xfrm>
            <a:off x="6629400" y="2322576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6 phases · 20 work packages</a:t>
            </a:r>
            <a:endParaRPr lang="en-US" sz="950" dirty="0"/>
          </a:p>
        </p:txBody>
      </p:sp>
      <p:sp>
        <p:nvSpPr>
          <p:cNvPr id="33" name="Shape 31"/>
          <p:cNvSpPr/>
          <p:nvPr/>
        </p:nvSpPr>
        <p:spPr>
          <a:xfrm>
            <a:off x="365760" y="2871216"/>
            <a:ext cx="26517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7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4" name="Text 32"/>
          <p:cNvSpPr/>
          <p:nvPr/>
        </p:nvSpPr>
        <p:spPr>
          <a:xfrm>
            <a:off x="45720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35" name="Text 33"/>
          <p:cNvSpPr/>
          <p:nvPr/>
        </p:nvSpPr>
        <p:spPr>
          <a:xfrm>
            <a:off x="960120" y="292608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14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Activity List</a:t>
            </a:r>
            <a:endParaRPr lang="en-US" sz="1000" dirty="0"/>
          </a:p>
        </p:txBody>
      </p:sp>
      <p:sp>
        <p:nvSpPr>
          <p:cNvPr id="36" name="Text 34"/>
          <p:cNvSpPr/>
          <p:nvPr/>
        </p:nvSpPr>
        <p:spPr>
          <a:xfrm>
            <a:off x="960120" y="3255264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22 activities · CPM scheduled</a:t>
            </a:r>
            <a:endParaRPr lang="en-US" sz="950" dirty="0"/>
          </a:p>
        </p:txBody>
      </p:sp>
      <p:sp>
        <p:nvSpPr>
          <p:cNvPr id="37" name="Shape 35"/>
          <p:cNvSpPr/>
          <p:nvPr/>
        </p:nvSpPr>
        <p:spPr>
          <a:xfrm>
            <a:off x="3200400" y="2871216"/>
            <a:ext cx="26517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7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38" name="Text 36"/>
          <p:cNvSpPr/>
          <p:nvPr/>
        </p:nvSpPr>
        <p:spPr>
          <a:xfrm>
            <a:off x="329184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39" name="Text 37"/>
          <p:cNvSpPr/>
          <p:nvPr/>
        </p:nvSpPr>
        <p:spPr>
          <a:xfrm>
            <a:off x="3794760" y="292608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14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Critical Path</a:t>
            </a:r>
            <a:endParaRPr lang="en-US" sz="1000" dirty="0"/>
          </a:p>
        </p:txBody>
      </p:sp>
      <p:sp>
        <p:nvSpPr>
          <p:cNvPr id="40" name="Text 38"/>
          <p:cNvSpPr/>
          <p:nvPr/>
        </p:nvSpPr>
        <p:spPr>
          <a:xfrm>
            <a:off x="3794760" y="3255264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~48 days · Zero float</a:t>
            </a:r>
            <a:endParaRPr lang="en-US" sz="950" dirty="0"/>
          </a:p>
        </p:txBody>
      </p:sp>
      <p:sp>
        <p:nvSpPr>
          <p:cNvPr id="41" name="Shape 39"/>
          <p:cNvSpPr/>
          <p:nvPr/>
        </p:nvSpPr>
        <p:spPr>
          <a:xfrm>
            <a:off x="6035040" y="2871216"/>
            <a:ext cx="26517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7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2" name="Text 40"/>
          <p:cNvSpPr/>
          <p:nvPr/>
        </p:nvSpPr>
        <p:spPr>
          <a:xfrm>
            <a:off x="6126480" y="2926080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43" name="Text 41"/>
          <p:cNvSpPr/>
          <p:nvPr/>
        </p:nvSpPr>
        <p:spPr>
          <a:xfrm>
            <a:off x="6629400" y="2926080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14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RAM / RACI</a:t>
            </a:r>
            <a:endParaRPr lang="en-US" sz="1000" dirty="0"/>
          </a:p>
        </p:txBody>
      </p:sp>
      <p:sp>
        <p:nvSpPr>
          <p:cNvPr id="44" name="Text 42"/>
          <p:cNvSpPr/>
          <p:nvPr/>
        </p:nvSpPr>
        <p:spPr>
          <a:xfrm>
            <a:off x="6629400" y="3255264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5-member team · Roles defined</a:t>
            </a:r>
            <a:endParaRPr lang="en-US" sz="950" dirty="0"/>
          </a:p>
        </p:txBody>
      </p:sp>
      <p:sp>
        <p:nvSpPr>
          <p:cNvPr id="45" name="Shape 43"/>
          <p:cNvSpPr/>
          <p:nvPr/>
        </p:nvSpPr>
        <p:spPr>
          <a:xfrm>
            <a:off x="365760" y="3803904"/>
            <a:ext cx="26517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7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46" name="Text 44"/>
          <p:cNvSpPr/>
          <p:nvPr/>
        </p:nvSpPr>
        <p:spPr>
          <a:xfrm>
            <a:off x="457200" y="3858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47" name="Text 45"/>
          <p:cNvSpPr/>
          <p:nvPr/>
        </p:nvSpPr>
        <p:spPr>
          <a:xfrm>
            <a:off x="960120" y="385876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14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Risks Identified</a:t>
            </a:r>
            <a:endParaRPr lang="en-US" sz="1000" dirty="0"/>
          </a:p>
        </p:txBody>
      </p:sp>
      <p:sp>
        <p:nvSpPr>
          <p:cNvPr id="48" name="Text 46"/>
          <p:cNvSpPr/>
          <p:nvPr/>
        </p:nvSpPr>
        <p:spPr>
          <a:xfrm>
            <a:off x="960120" y="4187952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12 threats · 3 opportunities</a:t>
            </a:r>
            <a:endParaRPr lang="en-US" sz="950" dirty="0"/>
          </a:p>
        </p:txBody>
      </p:sp>
      <p:sp>
        <p:nvSpPr>
          <p:cNvPr id="49" name="Shape 47"/>
          <p:cNvSpPr/>
          <p:nvPr/>
        </p:nvSpPr>
        <p:spPr>
          <a:xfrm>
            <a:off x="3200400" y="3803904"/>
            <a:ext cx="2651760" cy="804672"/>
          </a:xfrm>
          <a:prstGeom prst="rect">
            <a:avLst/>
          </a:prstGeom>
          <a:solidFill>
            <a:srgbClr val="FFFFFF"/>
          </a:solidFill>
          <a:ln w="12700">
            <a:solidFill>
              <a:srgbClr val="E8F7F8"/>
            </a:solidFill>
            <a:prstDash val="solid"/>
          </a:ln>
          <a:effectLst>
            <a:outerShdw blurRad="101600" dist="38100" dir="8100000" algn="bl" rotWithShape="0">
              <a:srgbClr val="000000">
                <a:alpha val="12000"/>
              </a:srgbClr>
            </a:outerShdw>
          </a:effectLst>
        </p:spPr>
        <p:txBody>
          <a:bodyPr/>
          <a:lstStyle/>
          <a:p>
            <a:endParaRPr lang="en-US"/>
          </a:p>
        </p:txBody>
      </p:sp>
      <p:sp>
        <p:nvSpPr>
          <p:cNvPr id="50" name="Text 48"/>
          <p:cNvSpPr/>
          <p:nvPr/>
        </p:nvSpPr>
        <p:spPr>
          <a:xfrm>
            <a:off x="3291840" y="3858768"/>
            <a:ext cx="457200" cy="4572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endParaRPr lang="en-US" sz="1800" dirty="0"/>
          </a:p>
        </p:txBody>
      </p:sp>
      <p:sp>
        <p:nvSpPr>
          <p:cNvPr id="51" name="Text 49"/>
          <p:cNvSpPr/>
          <p:nvPr/>
        </p:nvSpPr>
        <p:spPr>
          <a:xfrm>
            <a:off x="3794760" y="3858768"/>
            <a:ext cx="1965960" cy="292608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1000" b="1" dirty="0">
                <a:solidFill>
                  <a:srgbClr val="014F59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Comm. Channels</a:t>
            </a:r>
            <a:endParaRPr lang="en-US" sz="1000" dirty="0"/>
          </a:p>
        </p:txBody>
      </p:sp>
      <p:sp>
        <p:nvSpPr>
          <p:cNvPr id="52" name="Text 50"/>
          <p:cNvSpPr/>
          <p:nvPr/>
        </p:nvSpPr>
        <p:spPr>
          <a:xfrm>
            <a:off x="3794760" y="4187952"/>
            <a:ext cx="1965960" cy="329184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50" dirty="0">
                <a:solidFill>
                  <a:srgbClr val="3D6B70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15 channels · Weekly reporting</a:t>
            </a:r>
            <a:endParaRPr lang="en-US" sz="950" dirty="0"/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012A30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hape 0"/>
          <p:cNvSpPr/>
          <p:nvPr/>
        </p:nvSpPr>
        <p:spPr>
          <a:xfrm>
            <a:off x="5943600" y="-1097280"/>
            <a:ext cx="5029200" cy="5029200"/>
          </a:xfrm>
          <a:prstGeom prst="ellipse">
            <a:avLst/>
          </a:prstGeom>
          <a:solidFill>
            <a:srgbClr val="028090">
              <a:alpha val="20000"/>
            </a:srgbClr>
          </a:solidFill>
          <a:ln w="12700">
            <a:solidFill>
              <a:srgbClr val="028090">
                <a:alpha val="20000"/>
              </a:srgbClr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3" name="Shape 1"/>
          <p:cNvSpPr/>
          <p:nvPr/>
        </p:nvSpPr>
        <p:spPr>
          <a:xfrm>
            <a:off x="-1371600" y="2286000"/>
            <a:ext cx="4114800" cy="4114800"/>
          </a:xfrm>
          <a:prstGeom prst="ellipse">
            <a:avLst/>
          </a:prstGeom>
          <a:solidFill>
            <a:srgbClr val="00A896">
              <a:alpha val="18000"/>
            </a:srgbClr>
          </a:solidFill>
          <a:ln w="12700">
            <a:solidFill>
              <a:srgbClr val="00A896">
                <a:alpha val="18000"/>
              </a:srgbClr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457200" y="731520"/>
            <a:ext cx="8229600" cy="109728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56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Thank You</a:t>
            </a:r>
            <a:endParaRPr lang="en-US" sz="5600" dirty="0"/>
          </a:p>
        </p:txBody>
      </p:sp>
      <p:sp>
        <p:nvSpPr>
          <p:cNvPr id="5" name="Text 3"/>
          <p:cNvSpPr/>
          <p:nvPr/>
        </p:nvSpPr>
        <p:spPr>
          <a:xfrm>
            <a:off x="457200" y="1828800"/>
            <a:ext cx="8229600" cy="50292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000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Charity Organization Website Project</a:t>
            </a:r>
            <a:endParaRPr lang="en-US" sz="2000" dirty="0"/>
          </a:p>
        </p:txBody>
      </p:sp>
      <p:sp>
        <p:nvSpPr>
          <p:cNvPr id="6" name="Shape 4"/>
          <p:cNvSpPr/>
          <p:nvPr/>
        </p:nvSpPr>
        <p:spPr>
          <a:xfrm>
            <a:off x="2286000" y="2468880"/>
            <a:ext cx="4572000" cy="0"/>
          </a:xfrm>
          <a:prstGeom prst="line">
            <a:avLst/>
          </a:prstGeom>
          <a:noFill/>
          <a:ln w="12700">
            <a:solidFill>
              <a:srgbClr val="00A896"/>
            </a:solidFill>
            <a:prstDash val="solid"/>
          </a:ln>
        </p:spPr>
        <p:txBody>
          <a:bodyPr/>
          <a:lstStyle/>
          <a:p>
            <a:endParaRPr lang="en-US"/>
          </a:p>
        </p:txBody>
      </p:sp>
      <p:sp>
        <p:nvSpPr>
          <p:cNvPr id="7" name="Text 5"/>
          <p:cNvSpPr/>
          <p:nvPr/>
        </p:nvSpPr>
        <p:spPr>
          <a:xfrm>
            <a:off x="914400" y="2788920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Prepared by</a:t>
            </a:r>
            <a:endParaRPr lang="en-US" sz="900" dirty="0"/>
          </a:p>
        </p:txBody>
      </p:sp>
      <p:sp>
        <p:nvSpPr>
          <p:cNvPr id="8" name="Text 6"/>
          <p:cNvSpPr/>
          <p:nvPr/>
        </p:nvSpPr>
        <p:spPr>
          <a:xfrm>
            <a:off x="914400" y="3044952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Jana Hassan &amp; Seif Ahmed</a:t>
            </a:r>
            <a:endParaRPr lang="en-US" sz="1100" dirty="0"/>
          </a:p>
        </p:txBody>
      </p:sp>
      <p:sp>
        <p:nvSpPr>
          <p:cNvPr id="9" name="Text 7"/>
          <p:cNvSpPr/>
          <p:nvPr/>
        </p:nvSpPr>
        <p:spPr>
          <a:xfrm>
            <a:off x="3291840" y="27843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Sponsor</a:t>
            </a:r>
            <a:endParaRPr lang="en-US" sz="900" dirty="0"/>
          </a:p>
        </p:txBody>
      </p:sp>
      <p:sp>
        <p:nvSpPr>
          <p:cNvPr id="10" name="Text 8"/>
          <p:cNvSpPr/>
          <p:nvPr/>
        </p:nvSpPr>
        <p:spPr>
          <a:xfrm>
            <a:off x="3291840" y="30403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UNICEF</a:t>
            </a:r>
            <a:endParaRPr lang="en-US" sz="1100" dirty="0"/>
          </a:p>
        </p:txBody>
      </p:sp>
      <p:sp>
        <p:nvSpPr>
          <p:cNvPr id="11" name="Text 9"/>
          <p:cNvSpPr/>
          <p:nvPr/>
        </p:nvSpPr>
        <p:spPr>
          <a:xfrm>
            <a:off x="5943600" y="2784348"/>
            <a:ext cx="2011680" cy="256032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900" dirty="0">
                <a:solidFill>
                  <a:srgbClr val="7F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Deadline</a:t>
            </a:r>
            <a:endParaRPr lang="en-US" sz="900" dirty="0"/>
          </a:p>
        </p:txBody>
      </p:sp>
      <p:sp>
        <p:nvSpPr>
          <p:cNvPr id="12" name="Text 10"/>
          <p:cNvSpPr/>
          <p:nvPr/>
        </p:nvSpPr>
        <p:spPr>
          <a:xfrm>
            <a:off x="5943600" y="3040380"/>
            <a:ext cx="2011680" cy="27432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 algn="ctr">
              <a:buNone/>
            </a:pPr>
            <a:r>
              <a:rPr lang="en-US" sz="1100" b="1" dirty="0">
                <a:solidFill>
                  <a:srgbClr val="FFFFFF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21 June 2026</a:t>
            </a:r>
            <a:endParaRPr lang="en-US" sz="1100" dirty="0"/>
          </a:p>
        </p:txBody>
      </p:sp>
      <p:sp>
        <p:nvSpPr>
          <p:cNvPr id="15" name="Text 13"/>
          <p:cNvSpPr/>
          <p:nvPr/>
        </p:nvSpPr>
        <p:spPr>
          <a:xfrm>
            <a:off x="457200" y="3657600"/>
            <a:ext cx="8229600" cy="594360"/>
          </a:xfrm>
          <a:prstGeom prst="rect">
            <a:avLst/>
          </a:prstGeom>
          <a:noFill/>
          <a:ln/>
        </p:spPr>
        <p:txBody>
          <a:bodyPr wrap="square" rtlCol="0" anchor="ctr"/>
          <a:lstStyle/>
          <a:p>
            <a:pPr marL="0" indent="0" algn="ctr">
              <a:buNone/>
            </a:pPr>
            <a:r>
              <a:rPr lang="en-US" sz="2800" i="1" dirty="0">
                <a:solidFill>
                  <a:srgbClr val="02C39A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Questions?</a:t>
            </a:r>
            <a:endParaRPr lang="en-US" sz="2800" dirty="0"/>
          </a:p>
        </p:txBody>
      </p:sp>
      <p:sp>
        <p:nvSpPr>
          <p:cNvPr id="16" name="Shape 14"/>
          <p:cNvSpPr/>
          <p:nvPr/>
        </p:nvSpPr>
        <p:spPr>
          <a:xfrm>
            <a:off x="0" y="4892040"/>
            <a:ext cx="9144000" cy="251460"/>
          </a:xfrm>
          <a:prstGeom prst="rect">
            <a:avLst/>
          </a:prstGeom>
          <a:solidFill>
            <a:srgbClr val="014F59"/>
          </a:solidFill>
          <a:ln w="12700">
            <a:solidFill>
              <a:srgbClr val="014F59"/>
            </a:solidFill>
            <a:prstDash val="solid"/>
          </a:ln>
        </p:spPr>
        <p:txBody>
          <a:bodyPr/>
          <a:lstStyle/>
          <a:p>
            <a:endParaRPr lang="en-US" dirty="0"/>
          </a:p>
        </p:txBody>
      </p:sp>
      <p:sp>
        <p:nvSpPr>
          <p:cNvPr id="17" name="Text 15"/>
          <p:cNvSpPr/>
          <p:nvPr/>
        </p:nvSpPr>
        <p:spPr>
          <a:xfrm>
            <a:off x="274320" y="4901184"/>
            <a:ext cx="7772400" cy="228600"/>
          </a:xfrm>
          <a:prstGeom prst="rect">
            <a:avLst/>
          </a:prstGeom>
          <a:noFill/>
          <a:ln/>
        </p:spPr>
        <p:txBody>
          <a:bodyPr wrap="square" lIns="0" tIns="0" rIns="0" bIns="0" rtlCol="0" anchor="ctr"/>
          <a:lstStyle/>
          <a:p>
            <a:pPr marL="0" indent="0">
              <a:buNone/>
            </a:pPr>
            <a:r>
              <a:rPr lang="en-US" sz="900" dirty="0">
                <a:solidFill>
                  <a:srgbClr val="7FB8BE"/>
                </a:solidFill>
                <a:latin typeface="Calibri" pitchFamily="34" charset="0"/>
                <a:ea typeface="Calibri" pitchFamily="34" charset="-122"/>
                <a:cs typeface="Calibri" pitchFamily="34" charset="-120"/>
              </a:rPr>
              <a:t>Charity Organization Website  |  Jana Hassan &amp; Seif Ahmed  |  UNICEF</a:t>
            </a:r>
            <a:endParaRPr lang="en-US" sz="900" dirty="0"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1134</TotalTime>
  <Words>1758</Words>
  <Application>Microsoft Office PowerPoint</Application>
  <PresentationFormat>On-screen Show (16:9)</PresentationFormat>
  <Paragraphs>509</Paragraphs>
  <Slides>19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2" baseType="lpstr"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PptxGenJS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Charity Organization Website Project</dc:title>
  <dc:subject>PptxGenJS Presentation</dc:subject>
  <dc:creator>PptxGenJS</dc:creator>
  <cp:lastModifiedBy>seif ahmed</cp:lastModifiedBy>
  <cp:revision>47</cp:revision>
  <dcterms:created xsi:type="dcterms:W3CDTF">2026-05-10T15:27:20Z</dcterms:created>
  <dcterms:modified xsi:type="dcterms:W3CDTF">2026-05-21T08:07:41Z</dcterms:modified>
</cp:coreProperties>
</file>